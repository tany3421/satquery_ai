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D9FF"/>
                </a:solidFill>
                <a:latin typeface="Plus Jakarta Sans"/>
              </a:defRPr>
            </a:pPr>
            <a:r>
              <a:t>SMART INDIA HACKATHON 2025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6766560" cy="4754880"/>
          </a:xfrm>
          <a:prstGeom prst="roundRect">
            <a:avLst/>
          </a:prstGeom>
          <a:solidFill>
            <a:srgbClr val="0B1424"/>
          </a:solidFill>
          <a:ln w="15240">
            <a:solidFill>
              <a:srgbClr val="1B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600200"/>
            <a:ext cx="6217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400" b="1">
                <a:solidFill>
                  <a:srgbClr val="00D9FF"/>
                </a:solidFill>
                <a:latin typeface="Plus Jakarta Sans"/>
              </a:rPr>
              <a:t>• Problem Statement ID — </a:t>
            </a:r>
            <a:r>
              <a:rPr sz="1400" b="1">
                <a:solidFill>
                  <a:srgbClr val="35E59A"/>
                </a:solidFill>
                <a:latin typeface="Plus Jakarta Sans"/>
              </a:rPr>
              <a:t>SIH26167</a:t>
            </a: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00D9FF"/>
                </a:solidFill>
                <a:latin typeface="Plus Jakarta Sans"/>
              </a:rPr>
              <a:t>• Problem Statement Title — </a:t>
            </a:r>
            <a:r>
              <a:rPr sz="1400" b="1">
                <a:solidFill>
                  <a:srgbClr val="EAF6FF"/>
                </a:solidFill>
                <a:latin typeface="Plus Jakarta Sans"/>
              </a:rPr>
              <a:t>Interactive Vision-Language Assistant for Multimodal Remote Sensing Image Analysis through Text Queries</a:t>
            </a: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00D9FF"/>
                </a:solidFill>
                <a:latin typeface="Plus Jakarta Sans"/>
              </a:rPr>
              <a:t>• Theme — </a:t>
            </a:r>
            <a:r>
              <a:rPr sz="1400" b="1">
                <a:solidFill>
                  <a:srgbClr val="EAF6FF"/>
                </a:solidFill>
                <a:latin typeface="Plus Jakarta Sans"/>
              </a:rPr>
              <a:t>Space Technology / AI &amp; Multimodal Intelligence</a:t>
            </a: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00D9FF"/>
                </a:solidFill>
                <a:latin typeface="Plus Jakarta Sans"/>
              </a:rPr>
              <a:t>• PS Category — </a:t>
            </a:r>
            <a:r>
              <a:rPr sz="1400" b="1">
                <a:solidFill>
                  <a:srgbClr val="EAF6FF"/>
                </a:solidFill>
                <a:latin typeface="Plus Jakarta Sans"/>
              </a:rPr>
              <a:t>Software</a:t>
            </a: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00D9FF"/>
                </a:solidFill>
                <a:latin typeface="Plus Jakarta Sans"/>
              </a:rPr>
              <a:t>• Organization — </a:t>
            </a:r>
            <a:r>
              <a:rPr sz="1400" b="1">
                <a:solidFill>
                  <a:srgbClr val="EAF6FF"/>
                </a:solidFill>
                <a:latin typeface="Plus Jakarta Sans"/>
              </a:rPr>
              <a:t>Indian Space Research Organisation (ISRO)</a:t>
            </a: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00D9FF"/>
                </a:solidFill>
                <a:latin typeface="Plus Jakarta Sans"/>
              </a:rPr>
              <a:t>• Project Name — </a:t>
            </a:r>
            <a:r>
              <a:rPr sz="1400" b="1">
                <a:solidFill>
                  <a:srgbClr val="00D9FF"/>
                </a:solidFill>
                <a:latin typeface="Plus Jakarta Sans"/>
              </a:rPr>
              <a:t>SatQuery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55279" y="1371600"/>
            <a:ext cx="3291840" cy="4754880"/>
          </a:xfrm>
          <a:prstGeom prst="roundRect">
            <a:avLst/>
          </a:prstGeom>
          <a:solidFill>
            <a:srgbClr val="0B1424"/>
          </a:solidFill>
          <a:ln w="15240">
            <a:solidFill>
              <a:srgbClr val="8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19871" y="1481328"/>
            <a:ext cx="29626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D9FF"/>
                </a:solidFill>
                <a:latin typeface="Plus Jakarta Sans"/>
              </a:defRPr>
            </a:pPr>
            <a:r>
              <a:t>🛰️ SATQUERY AI COCKPIT</a:t>
            </a:r>
          </a:p>
        </p:txBody>
      </p:sp>
      <p:pic>
        <p:nvPicPr>
          <p:cNvPr id="7" name="Picture 6" descr="satquery_dark_a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1920240"/>
            <a:ext cx="2926080" cy="1930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92440" y="425196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35E59A"/>
                </a:solidFill>
              </a:defRPr>
            </a:pPr>
            <a:r>
              <a:t>Autonomous Multi-Specialist Engine</a:t>
            </a:r>
          </a:p>
          <a:p>
            <a:pPr>
              <a:spcBef>
                <a:spcPts val="400"/>
              </a:spcBef>
              <a:defRPr sz="950">
                <a:solidFill>
                  <a:srgbClr val="8EA4BF"/>
                </a:solidFill>
              </a:defRPr>
            </a:pPr>
            <a:r>
              <a:t>• BigEarthNet-19 &amp; Radiometry</a:t>
            </a:r>
            <a:br/>
            <a:r>
              <a:t>• Co-Registered Optical + SAR Fusion</a:t>
            </a:r>
            <a:br/>
            <a:r>
              <a:t>• Bi-Temporal Change Detection &amp; CDVQA</a:t>
            </a:r>
            <a:br/>
            <a:r>
              <a:t>• Meta SAM 2.1 Sub-Pixel Grounding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9101E"/>
          </a:solidFill>
          <a:ln w="12700">
            <a:solidFill>
              <a:srgbClr val="1B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9FF"/>
                </a:solidFill>
                <a:latin typeface="Plus Jakarta Sans"/>
              </a:defRPr>
            </a:pPr>
            <a:r>
              <a:t>SMART INDIA HACKATHON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8686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AF6FF"/>
                </a:solidFill>
                <a:latin typeface="Plus Jakarta Sans"/>
              </a:defRPr>
            </a:pPr>
            <a:r>
              <a:t>PROPOSED SOLUTION / APPROACH &amp; INNOVATION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164592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50" b="1">
                <a:solidFill>
                  <a:srgbClr val="35E59A"/>
                </a:solidFill>
                <a:latin typeface="JetBrains Mono"/>
              </a:defRPr>
            </a:pPr>
            <a:r>
              <a:t>SIH26167 · ISRO ASSISTANT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9101E"/>
          </a:solidFill>
          <a:ln w="12700">
            <a:solidFill>
              <a:srgbClr val="1B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8EA4BF"/>
                </a:solidFill>
                <a:latin typeface="Plus Jakarta Sans"/>
              </a:defRPr>
            </a:pPr>
            <a:r>
              <a:t>SatQuery AI — Autonomous Multimodal Vision-Language &amp; SAM 2.1 Remote Sensing Workspace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65392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0D9FF"/>
                </a:solidFill>
                <a:latin typeface="JetBrains Mono"/>
              </a:defRPr>
            </a:pPr>
            <a: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960120"/>
            <a:ext cx="5486400" cy="5394960"/>
          </a:xfrm>
          <a:prstGeom prst="roundRect">
            <a:avLst/>
          </a:prstGeom>
          <a:solidFill>
            <a:srgbClr val="0B1424"/>
          </a:solidFill>
          <a:ln w="15240">
            <a:solidFill>
              <a:srgbClr val="1B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069848"/>
            <a:ext cx="51572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D9FF"/>
                </a:solidFill>
                <a:latin typeface="Plus Jakarta Sans"/>
              </a:defRPr>
            </a:pPr>
            <a:r>
              <a:t>🎯 Proposed Solution / Multi-Specialist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41732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00D9FF"/>
                </a:solidFill>
              </a:rPr>
              <a:t>• Agentic Routing Controller: </a:t>
            </a:r>
            <a:r>
              <a:rPr sz="1050">
                <a:solidFill>
                  <a:srgbClr val="EAF6FF"/>
                </a:solidFill>
              </a:rPr>
              <a:t>Interprets queries, validates input raster counts/metadata, prevents hallucinated parameters, and orchestrates specialist tools.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0D9FF"/>
                </a:solidFill>
              </a:rPr>
              <a:t>• Multi-Sensor Optical + SAR Fusion: </a:t>
            </a:r>
            <a:r>
              <a:rPr sz="1050">
                <a:solidFill>
                  <a:srgbClr val="EAF6FF"/>
                </a:solidFill>
              </a:rPr>
              <a:t>Jointly decodes optical reflectance (Cartosat/S2) and microwave radar backscatter (RISAT/S1) for all-weather vision and cloud penetration.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0D9FF"/>
                </a:solidFill>
              </a:rPr>
              <a:t>• Bi-Temporal Change &amp; CDVQA: </a:t>
            </a:r>
            <a:r>
              <a:rPr sz="1050">
                <a:solidFill>
                  <a:srgbClr val="EAF6FF"/>
                </a:solidFill>
              </a:rPr>
              <a:t>Generates quantitative pixel difference matrices and heatmaps before invoking language reasoning to verify spatial change deltas.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0D9FF"/>
                </a:solidFill>
              </a:rPr>
              <a:t>• Meta SAM 2.1 Precision Highlighting: </a:t>
            </a:r>
            <a:r>
              <a:rPr sz="1050">
                <a:solidFill>
                  <a:srgbClr val="EAF6FF"/>
                </a:solidFill>
              </a:rPr>
              <a:t>Interactive point (+/-), bounding box, polygon, and text prompts for discrete instance extraction with zero boundary bleed.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0D9FF"/>
                </a:solidFill>
              </a:rPr>
              <a:t>• Domain Radiometry &amp; BigEarthNet-19: </a:t>
            </a:r>
            <a:r>
              <a:rPr sz="1050">
                <a:solidFill>
                  <a:srgbClr val="EAF6FF"/>
                </a:solidFill>
              </a:rPr>
              <a:t>Automated extraction of NDVI (vegetation), NDWI (water), and NDBI (urban footprint) continuous spectral indices.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960120"/>
            <a:ext cx="5394960" cy="960120"/>
          </a:xfrm>
          <a:prstGeom prst="roundRect">
            <a:avLst/>
          </a:prstGeom>
          <a:solidFill>
            <a:srgbClr val="0B1424"/>
          </a:solidFill>
          <a:ln w="1524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033272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00D9FF"/>
                </a:solidFill>
              </a:defRPr>
            </a:pPr>
            <a:r>
              <a:t>★ Autonomous Routing</a:t>
            </a:r>
          </a:p>
          <a:p>
            <a:pPr>
              <a:spcBef>
                <a:spcPts val="200"/>
              </a:spcBef>
              <a:defRPr sz="1000">
                <a:solidFill>
                  <a:srgbClr val="EAF6FF"/>
                </a:solidFill>
              </a:defRPr>
            </a:pPr>
            <a:r>
              <a:t>Deterministic task classification prevents generic VLM hallucinations.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039112"/>
            <a:ext cx="5394960" cy="960120"/>
          </a:xfrm>
          <a:prstGeom prst="roundRect">
            <a:avLst/>
          </a:prstGeom>
          <a:solidFill>
            <a:srgbClr val="0B1424"/>
          </a:solidFill>
          <a:ln w="15240">
            <a:solidFill>
              <a:srgbClr val="35E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112264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35E59A"/>
                </a:solidFill>
              </a:defRPr>
            </a:pPr>
            <a:r>
              <a:t>★ SAR Radar Penetration</a:t>
            </a:r>
          </a:p>
          <a:p>
            <a:pPr>
              <a:spcBef>
                <a:spcPts val="200"/>
              </a:spcBef>
              <a:defRPr sz="1000">
                <a:solidFill>
                  <a:srgbClr val="EAF6FF"/>
                </a:solidFill>
              </a:defRPr>
            </a:pPr>
            <a:r>
              <a:t>Microwave surface roughness reveals ground features hidden by haze.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118104"/>
            <a:ext cx="5394960" cy="960120"/>
          </a:xfrm>
          <a:prstGeom prst="roundRect">
            <a:avLst/>
          </a:prstGeom>
          <a:solidFill>
            <a:srgbClr val="0B1424"/>
          </a:solidFill>
          <a:ln w="15240">
            <a:solidFill>
              <a:srgbClr val="8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191256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8B7CFF"/>
                </a:solidFill>
              </a:defRPr>
            </a:pPr>
            <a:r>
              <a:t>★ SAM 2.1 Instance Masks</a:t>
            </a:r>
          </a:p>
          <a:p>
            <a:pPr>
              <a:spcBef>
                <a:spcPts val="200"/>
              </a:spcBef>
              <a:defRPr sz="1000">
                <a:solidFill>
                  <a:srgbClr val="EAF6FF"/>
                </a:solidFill>
              </a:defRPr>
            </a:pPr>
            <a:r>
              <a:t>Sub-pixel segmentation wholly isolates discrete structures and water bodies.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197096"/>
            <a:ext cx="5394960" cy="960120"/>
          </a:xfrm>
          <a:prstGeom prst="roundRect">
            <a:avLst/>
          </a:prstGeom>
          <a:solidFill>
            <a:srgbClr val="0B1424"/>
          </a:solidFill>
          <a:ln w="15240"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4270248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FFB84D"/>
                </a:solidFill>
              </a:defRPr>
            </a:pPr>
            <a:r>
              <a:t>★ Auditable Trace Matrix</a:t>
            </a:r>
          </a:p>
          <a:p>
            <a:pPr>
              <a:spcBef>
                <a:spcPts val="200"/>
              </a:spcBef>
              <a:defRPr sz="1000">
                <a:solidFill>
                  <a:srgbClr val="EAF6FF"/>
                </a:solidFill>
              </a:defRPr>
            </a:pPr>
            <a:r>
              <a:t>Full JSON provenance with tool parameters, confidence, and spectral indices.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5276088"/>
            <a:ext cx="5394960" cy="960120"/>
          </a:xfrm>
          <a:prstGeom prst="roundRect">
            <a:avLst/>
          </a:prstGeom>
          <a:solidFill>
            <a:srgbClr val="0B1424"/>
          </a:solidFill>
          <a:ln w="1524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534924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00D9FF"/>
                </a:solidFill>
              </a:defRPr>
            </a:pPr>
            <a:r>
              <a:t>★ Offline Local Resilience</a:t>
            </a:r>
          </a:p>
          <a:p>
            <a:pPr>
              <a:spcBef>
                <a:spcPts val="200"/>
              </a:spcBef>
              <a:defRPr sz="1000">
                <a:solidFill>
                  <a:srgbClr val="EAF6FF"/>
                </a:solidFill>
              </a:defRPr>
            </a:pPr>
            <a:r>
              <a:t>Zero API Key local fallback engine for air-gapped defense &amp; field stations.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9101E"/>
          </a:solidFill>
          <a:ln w="12700">
            <a:solidFill>
              <a:srgbClr val="1B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9FF"/>
                </a:solidFill>
                <a:latin typeface="Plus Jakarta Sans"/>
              </a:defRPr>
            </a:pPr>
            <a:r>
              <a:t>SMART INDIA HACKATHON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8686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AF6FF"/>
                </a:solidFill>
                <a:latin typeface="Plus Jakarta Sans"/>
              </a:defRPr>
            </a:pPr>
            <a:r>
              <a:t>TECHNICAL APPROACH &amp;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164592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50" b="1">
                <a:solidFill>
                  <a:srgbClr val="35E59A"/>
                </a:solidFill>
                <a:latin typeface="JetBrains Mono"/>
              </a:defRPr>
            </a:pPr>
            <a:r>
              <a:t>SIH26167 · ISRO ASSISTANT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9101E"/>
          </a:solidFill>
          <a:ln w="12700">
            <a:solidFill>
              <a:srgbClr val="1B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8EA4BF"/>
                </a:solidFill>
                <a:latin typeface="Plus Jakarta Sans"/>
              </a:defRPr>
            </a:pPr>
            <a:r>
              <a:t>SatQuery AI — Autonomous Multimodal Vision-Language &amp; SAM 2.1 Remote Sensing Workspace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65392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0D9FF"/>
                </a:solidFill>
                <a:latin typeface="JetBrains Mono"/>
              </a:defRPr>
            </a:pPr>
            <a: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960120"/>
            <a:ext cx="2697480" cy="3200400"/>
          </a:xfrm>
          <a:prstGeom prst="roundRect">
            <a:avLst/>
          </a:prstGeom>
          <a:solidFill>
            <a:srgbClr val="0B1424"/>
          </a:solidFill>
          <a:ln w="1524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051560"/>
            <a:ext cx="24688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0D9FF"/>
                </a:solidFill>
              </a:defRPr>
            </a:pPr>
            <a:r>
              <a:t>Zone 1: Client &amp; Presentation</a:t>
            </a:r>
          </a:p>
          <a:p>
            <a:pPr>
              <a:spcBef>
                <a:spcPts val="800"/>
              </a:spcBef>
              <a:defRPr sz="950">
                <a:solidFill>
                  <a:srgbClr val="EAF6FF"/>
                </a:solidFill>
              </a:defRPr>
            </a:pPr>
            <a:r>
              <a:t>• Web GIS UI (Mapbox 3D + Satellite)</a:t>
            </a:r>
            <a:br/>
            <a:r>
              <a:t>• Multi-Layer Hardware Canvas</a:t>
            </a:r>
            <a:br/>
            <a:r>
              <a:t>• Interactive SAM 2.1 Toolbar</a:t>
            </a:r>
            <a:br/>
            <a:r>
              <a:t>• Dual [☀️ Light | 🌙 Dark] Mode</a:t>
            </a:r>
            <a:br/>
            <a:r>
              <a:t>• JWT Token &amp; Profile Security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64992" y="960120"/>
            <a:ext cx="2697480" cy="3200400"/>
          </a:xfrm>
          <a:prstGeom prst="roundRect">
            <a:avLst/>
          </a:prstGeom>
          <a:solidFill>
            <a:srgbClr val="0B1424"/>
          </a:solidFill>
          <a:ln w="15240">
            <a:solidFill>
              <a:srgbClr val="35E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1051560"/>
            <a:ext cx="24688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35E59A"/>
                </a:solidFill>
              </a:defRPr>
            </a:pPr>
            <a:r>
              <a:t>Zone 2: Gateway &amp; Orchestration</a:t>
            </a:r>
          </a:p>
          <a:p>
            <a:pPr>
              <a:spcBef>
                <a:spcPts val="800"/>
              </a:spcBef>
              <a:defRPr sz="950">
                <a:solidFill>
                  <a:srgbClr val="EAF6FF"/>
                </a:solidFill>
              </a:defRPr>
            </a:pPr>
            <a:r>
              <a:t>• FastAPI Asynchronous Gateway</a:t>
            </a:r>
            <a:br/>
            <a:r>
              <a:t>• Agentic Router &amp; Task Classifier</a:t>
            </a:r>
            <a:br/>
            <a:r>
              <a:t>• Input Format Compatibility Gate</a:t>
            </a:r>
            <a:br/>
            <a:r>
              <a:t>• Permitted Parameter Validator</a:t>
            </a:r>
            <a:br/>
            <a:r>
              <a:t>• Image Pre-Processing &amp; GeoTIFF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960120"/>
            <a:ext cx="2697480" cy="3200400"/>
          </a:xfrm>
          <a:prstGeom prst="roundRect">
            <a:avLst/>
          </a:prstGeom>
          <a:solidFill>
            <a:srgbClr val="0B1424"/>
          </a:solidFill>
          <a:ln w="15240">
            <a:solidFill>
              <a:srgbClr val="8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91072" y="1051560"/>
            <a:ext cx="24688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8B7CFF"/>
                </a:solidFill>
              </a:defRPr>
            </a:pPr>
            <a:r>
              <a:t>Zone 3: RS &amp; SAM Specialists</a:t>
            </a:r>
          </a:p>
          <a:p>
            <a:pPr>
              <a:spcBef>
                <a:spcPts val="800"/>
              </a:spcBef>
              <a:defRPr sz="950">
                <a:solidFill>
                  <a:srgbClr val="EAF6FF"/>
                </a:solidFill>
              </a:defRPr>
            </a:pPr>
            <a:r>
              <a:t>• Radiometric Engine (NDVI/W/B)</a:t>
            </a:r>
            <a:br/>
            <a:r>
              <a:t>• BigEarthNet-19 Classifier</a:t>
            </a:r>
            <a:br/>
            <a:r>
              <a:t>• SAR Radar Backscatter Engine</a:t>
            </a:r>
            <a:br/>
            <a:r>
              <a:t>• Temporal Heatmap Generator</a:t>
            </a:r>
            <a:br/>
            <a:r>
              <a:t>• Meta SAM 2.1 Sub-Pixel Engine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97696" y="960120"/>
            <a:ext cx="2697480" cy="3200400"/>
          </a:xfrm>
          <a:prstGeom prst="roundRect">
            <a:avLst/>
          </a:prstGeom>
          <a:solidFill>
            <a:srgbClr val="0B1424"/>
          </a:solidFill>
          <a:ln w="15240"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7424" y="1051560"/>
            <a:ext cx="24688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FFB84D"/>
                </a:solidFill>
              </a:defRPr>
            </a:pPr>
            <a:r>
              <a:t>Zone 4: Reasoning &amp; Persistence</a:t>
            </a:r>
          </a:p>
          <a:p>
            <a:pPr>
              <a:spcBef>
                <a:spcPts val="800"/>
              </a:spcBef>
              <a:defRPr sz="950">
                <a:solidFill>
                  <a:srgbClr val="EAF6FF"/>
                </a:solidFill>
              </a:defRPr>
            </a:pPr>
            <a:r>
              <a:t>• Gemini RS-VLM Multimodal Layer</a:t>
            </a:r>
            <a:br/>
            <a:r>
              <a:t>• Offline Air-Gapped Local VLM</a:t>
            </a:r>
            <a:br/>
            <a:r>
              <a:t>• Auditable Trace JSON Ledger</a:t>
            </a:r>
            <a:br/>
            <a:r>
              <a:t>• MongoDB Compass (Isolated History)</a:t>
            </a:r>
            <a:br/>
            <a:r>
              <a:t>• ISRO-Compliant PDF Reporter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343400"/>
            <a:ext cx="11091672" cy="2011680"/>
          </a:xfrm>
          <a:prstGeom prst="roundRect">
            <a:avLst/>
          </a:prstGeom>
          <a:solidFill>
            <a:srgbClr val="0B1424"/>
          </a:solidFill>
          <a:ln w="15240">
            <a:solidFill>
              <a:srgbClr val="1B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4453128"/>
            <a:ext cx="10762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D9FF"/>
                </a:solidFill>
                <a:latin typeface="Plus Jakarta Sans"/>
              </a:defRPr>
            </a:pPr>
            <a:r>
              <a:t>⚙️ 6-Stage End-to-End Pipeline &amp; Technology Stack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800600"/>
            <a:ext cx="1737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00D9FF"/>
                </a:solidFill>
              </a:defRPr>
            </a:pPr>
            <a:r>
              <a:t>1. Satellite Uplink</a:t>
            </a:r>
          </a:p>
          <a:p>
            <a:pPr>
              <a:spcBef>
                <a:spcPts val="300"/>
              </a:spcBef>
              <a:defRPr sz="880">
                <a:solidFill>
                  <a:srgbClr val="8EA4BF"/>
                </a:solidFill>
              </a:defRPr>
            </a:pPr>
            <a:r>
              <a:t>GeoTIFF, Multispectral, SAR (RISAT, Cartosat, Sentinel).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42032" y="4800600"/>
            <a:ext cx="1737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00D9FF"/>
                </a:solidFill>
              </a:defRPr>
            </a:pPr>
            <a:r>
              <a:t>2. Agentic Check</a:t>
            </a:r>
          </a:p>
          <a:p>
            <a:pPr>
              <a:spcBef>
                <a:spcPts val="300"/>
              </a:spcBef>
              <a:defRPr sz="880">
                <a:solidFill>
                  <a:srgbClr val="8EA4BF"/>
                </a:solidFill>
              </a:defRPr>
            </a:pPr>
            <a:r>
              <a:t>Checks count, channels, CRS projection bounds &amp; metadata.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52544" y="4800600"/>
            <a:ext cx="1737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00D9FF"/>
                </a:solidFill>
              </a:defRPr>
            </a:pPr>
            <a:r>
              <a:t>3. Radiometry / SAR</a:t>
            </a:r>
          </a:p>
          <a:p>
            <a:pPr>
              <a:spcBef>
                <a:spcPts val="300"/>
              </a:spcBef>
              <a:defRPr sz="880">
                <a:solidFill>
                  <a:srgbClr val="8EA4BF"/>
                </a:solidFill>
              </a:defRPr>
            </a:pPr>
            <a:r>
              <a:t>Continuous NDVI/NDWI/NDBI &amp; radar roughness extraction.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63055" y="4800600"/>
            <a:ext cx="1737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00D9FF"/>
                </a:solidFill>
              </a:defRPr>
            </a:pPr>
            <a:r>
              <a:t>4. SAM 2.1 Masks</a:t>
            </a:r>
          </a:p>
          <a:p>
            <a:pPr>
              <a:spcBef>
                <a:spcPts val="300"/>
              </a:spcBef>
              <a:defRPr sz="880">
                <a:solidFill>
                  <a:srgbClr val="8EA4BF"/>
                </a:solidFill>
              </a:defRPr>
            </a:pPr>
            <a:r>
              <a:t>Sub-pixel feature grounding across discrete coordinates.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73568" y="4800600"/>
            <a:ext cx="1737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00D9FF"/>
                </a:solidFill>
              </a:defRPr>
            </a:pPr>
            <a:r>
              <a:t>5. VLM Synthesis</a:t>
            </a:r>
          </a:p>
          <a:p>
            <a:pPr>
              <a:spcBef>
                <a:spcPts val="300"/>
              </a:spcBef>
              <a:defRPr sz="880">
                <a:solidFill>
                  <a:srgbClr val="8EA4BF"/>
                </a:solidFill>
              </a:defRPr>
            </a:pPr>
            <a:r>
              <a:t>Gemini 2.5 / GeoChat grounds analysis in physical evidence.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4800600"/>
            <a:ext cx="1737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00D9FF"/>
                </a:solidFill>
              </a:defRPr>
            </a:pPr>
            <a:r>
              <a:t>6. Auditable Trace</a:t>
            </a:r>
          </a:p>
          <a:p>
            <a:pPr>
              <a:spcBef>
                <a:spcPts val="300"/>
              </a:spcBef>
              <a:defRPr sz="880">
                <a:solidFill>
                  <a:srgbClr val="8EA4BF"/>
                </a:solidFill>
              </a:defRPr>
            </a:pPr>
            <a:r>
              <a:t>Interactive Mapbox 3D + JSON trace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9101E"/>
          </a:solidFill>
          <a:ln w="12700">
            <a:solidFill>
              <a:srgbClr val="1B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9FF"/>
                </a:solidFill>
                <a:latin typeface="Plus Jakarta Sans"/>
              </a:defRPr>
            </a:pPr>
            <a:r>
              <a:t>SMART INDIA HACKATHON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8686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AF6FF"/>
                </a:solidFill>
                <a:latin typeface="Plus Jakarta Sans"/>
              </a:defRPr>
            </a:pPr>
            <a:r>
              <a:t>FEASIBILITY, VIABILITY &amp; RISK MITIGATION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164592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50" b="1">
                <a:solidFill>
                  <a:srgbClr val="35E59A"/>
                </a:solidFill>
                <a:latin typeface="JetBrains Mono"/>
              </a:defRPr>
            </a:pPr>
            <a:r>
              <a:t>SIH26167 · ISRO ASSISTANT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9101E"/>
          </a:solidFill>
          <a:ln w="12700">
            <a:solidFill>
              <a:srgbClr val="1B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8EA4BF"/>
                </a:solidFill>
                <a:latin typeface="Plus Jakarta Sans"/>
              </a:defRPr>
            </a:pPr>
            <a:r>
              <a:t>SatQuery AI — Autonomous Multimodal Vision-Language &amp; SAM 2.1 Remote Sensing Workspace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65392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0D9FF"/>
                </a:solidFill>
                <a:latin typeface="JetBrains Mono"/>
              </a:defRPr>
            </a:pPr>
            <a: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960120"/>
            <a:ext cx="3611880" cy="2331720"/>
          </a:xfrm>
          <a:prstGeom prst="roundRect">
            <a:avLst/>
          </a:prstGeom>
          <a:solidFill>
            <a:srgbClr val="0B1424"/>
          </a:solidFill>
          <a:ln w="1524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069848"/>
            <a:ext cx="32826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D9FF"/>
                </a:solidFill>
                <a:latin typeface="Plus Jakarta Sans"/>
              </a:defRPr>
            </a:pPr>
            <a:r>
              <a:t>Feasibility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371600"/>
            <a:ext cx="3337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EAF6FF"/>
                </a:solidFill>
              </a:defRPr>
            </a:pPr>
            <a:r>
              <a:t>• Uses validated hybrid multi-model pipeline combining Meta SAM 2.1 with cloud and offline VLMs.</a:t>
            </a:r>
          </a:p>
          <a:p>
            <a:pPr>
              <a:spcAft>
                <a:spcPts val="400"/>
              </a:spcAft>
              <a:defRPr sz="950">
                <a:solidFill>
                  <a:srgbClr val="EAF6FF"/>
                </a:solidFill>
              </a:defRPr>
            </a:pPr>
            <a:r>
              <a:t>• Processes real multispectral GeoTIFFs (10m–30m spatial resolution) and dual-pol SAR rasters.</a:t>
            </a:r>
          </a:p>
          <a:p>
            <a:pPr>
              <a:spcAft>
                <a:spcPts val="400"/>
              </a:spcAft>
              <a:defRPr sz="950">
                <a:solidFill>
                  <a:srgbClr val="EAF6FF"/>
                </a:solidFill>
              </a:defRPr>
            </a:pPr>
            <a:r>
              <a:t>• Containerized FastAPI + PyTorch backend ready for deployment on standard edge/cloud servers.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960120"/>
            <a:ext cx="3611880" cy="2331720"/>
          </a:xfrm>
          <a:prstGeom prst="roundRect">
            <a:avLst/>
          </a:prstGeom>
          <a:solidFill>
            <a:srgbClr val="0B1424"/>
          </a:solidFill>
          <a:ln w="15240">
            <a:solidFill>
              <a:srgbClr val="35E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069848"/>
            <a:ext cx="32826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D9FF"/>
                </a:solidFill>
                <a:latin typeface="Plus Jakarta Sans"/>
              </a:defRPr>
            </a:pPr>
            <a:r>
              <a:t>Viability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3128" y="1371600"/>
            <a:ext cx="3337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EAF6FF"/>
                </a:solidFill>
              </a:defRPr>
            </a:pPr>
            <a:r>
              <a:t>• Zero API Key offline mode guarantees operational viability in secure, air-gapped defense zones.</a:t>
            </a:r>
          </a:p>
          <a:p>
            <a:pPr>
              <a:spcAft>
                <a:spcPts val="400"/>
              </a:spcAft>
              <a:defRPr sz="950">
                <a:solidFill>
                  <a:srgbClr val="EAF6FF"/>
                </a:solidFill>
              </a:defRPr>
            </a:pPr>
            <a:r>
              <a:t>• Role-based multi-account isolation securely segregated via MongoDB Compass database.</a:t>
            </a:r>
          </a:p>
          <a:p>
            <a:pPr>
              <a:spcAft>
                <a:spcPts val="400"/>
              </a:spcAft>
              <a:defRPr sz="950">
                <a:solidFill>
                  <a:srgbClr val="EAF6FF"/>
                </a:solidFill>
              </a:defRPr>
            </a:pPr>
            <a:r>
              <a:t>• Eliminates dependency on expensive proprietary GIS software licenses through open-source architecture.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960120"/>
            <a:ext cx="3611880" cy="2331720"/>
          </a:xfrm>
          <a:prstGeom prst="roundRect">
            <a:avLst/>
          </a:prstGeom>
          <a:solidFill>
            <a:srgbClr val="0B1424"/>
          </a:solidFill>
          <a:ln w="15240">
            <a:solidFill>
              <a:srgbClr val="8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069848"/>
            <a:ext cx="32826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D9FF"/>
                </a:solidFill>
                <a:latin typeface="Plus Jakarta Sans"/>
              </a:defRPr>
            </a:pPr>
            <a:r>
              <a:t>Practical Implementation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0456" y="1371600"/>
            <a:ext cx="3337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EAF6FF"/>
                </a:solidFill>
              </a:defRPr>
            </a:pPr>
            <a:r>
              <a:t>• Interactive web dashboard with Mapbox 3D satellite visualization ready for pilot operations.</a:t>
            </a:r>
          </a:p>
          <a:p>
            <a:pPr>
              <a:spcAft>
                <a:spcPts val="400"/>
              </a:spcAft>
              <a:defRPr sz="950">
                <a:solidFill>
                  <a:srgbClr val="EAF6FF"/>
                </a:solidFill>
              </a:defRPr>
            </a:pPr>
            <a:r>
              <a:t>• Comprehensive suite of 24 automated integration and segmentation unit tests passing cleanly.</a:t>
            </a:r>
          </a:p>
          <a:p>
            <a:pPr>
              <a:spcAft>
                <a:spcPts val="400"/>
              </a:spcAft>
              <a:defRPr sz="950">
                <a:solidFill>
                  <a:srgbClr val="EAF6FF"/>
                </a:solidFill>
              </a:defRPr>
            </a:pPr>
            <a:r>
              <a:t>• Benchmarked against official BigEarthNet, VRSBench, RSVQA, and CDVQA remote sensing standards.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474720"/>
            <a:ext cx="11091672" cy="2880360"/>
          </a:xfrm>
          <a:prstGeom prst="roundRect">
            <a:avLst/>
          </a:prstGeom>
          <a:solidFill>
            <a:srgbClr val="0B1424"/>
          </a:solidFill>
          <a:ln w="15240"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3584448"/>
            <a:ext cx="10762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D9FF"/>
                </a:solidFill>
                <a:latin typeface="Plus Jakarta Sans"/>
              </a:defRPr>
            </a:pPr>
            <a:r>
              <a:t>⚠️ Potential Challenges &amp; Engineered Risk Mitigations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931920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980">
                <a:solidFill>
                  <a:srgbClr val="FF526A"/>
                </a:solidFill>
              </a:defRPr>
            </a:pPr>
            <a:r>
              <a:t>01. Cloud Cover &amp; Haze Obscuration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3931920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80">
                <a:solidFill>
                  <a:srgbClr val="8EA4BF"/>
                </a:solidFill>
              </a:defRPr>
            </a:pPr>
            <a:r>
              <a:t>Optical imagery obscured during monsoons and high altitude cloud cover.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3931920"/>
            <a:ext cx="4297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80">
                <a:solidFill>
                  <a:srgbClr val="35E59A"/>
                </a:solidFill>
              </a:defRPr>
            </a:pPr>
            <a:r>
              <a:t>✔ Dual-Modal SAR Radar Fusion leverages microwave specular backscatter to penetrate clouds and map ground structures.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407408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980">
                <a:solidFill>
                  <a:srgbClr val="FF526A"/>
                </a:solidFill>
              </a:defRPr>
            </a:pPr>
            <a:r>
              <a:t>02. Hallucinations in Generic VLMs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4407408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80">
                <a:solidFill>
                  <a:srgbClr val="8EA4BF"/>
                </a:solidFill>
              </a:defRPr>
            </a:pPr>
            <a:r>
              <a:t>Commercial VLMs invent land cover classifications and non-existent boundaries.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4407408"/>
            <a:ext cx="4297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80">
                <a:solidFill>
                  <a:srgbClr val="35E59A"/>
                </a:solidFill>
              </a:defRPr>
            </a:pPr>
            <a:r>
              <a:t>✔ Deterministic Agentic Controller extracts BigEarthNet-19 &amp; spectral indices prior to language prompting.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882896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980">
                <a:solidFill>
                  <a:srgbClr val="FF526A"/>
                </a:solidFill>
              </a:defRPr>
            </a:pPr>
            <a:r>
              <a:t>03. Sub-Pixel Boundary Under-segmentation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0" y="4882896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80">
                <a:solidFill>
                  <a:srgbClr val="8EA4BF"/>
                </a:solidFill>
              </a:defRPr>
            </a:pPr>
            <a:r>
              <a:t>Standard segmentation models clip boundaries on irregular lakes and dense buildings.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4882896"/>
            <a:ext cx="4297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80">
                <a:solidFill>
                  <a:srgbClr val="35E59A"/>
                </a:solidFill>
              </a:defRPr>
            </a:pPr>
            <a:r>
              <a:t>✔ Meta SAM 2.1 with contextual 25% padding and whole-raster flood propagation for whole-feature extraction.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358383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980">
                <a:solidFill>
                  <a:srgbClr val="FF526A"/>
                </a:solidFill>
              </a:defRPr>
            </a:pPr>
            <a:r>
              <a:t>04. Network Bandwidth in Field Deployments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31920" y="5358383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80">
                <a:solidFill>
                  <a:srgbClr val="8EA4BF"/>
                </a:solidFill>
              </a:defRPr>
            </a:pPr>
            <a:r>
              <a:t>Heavy satellite rasters and cloud API calls fail in remote disaster areas.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5358383"/>
            <a:ext cx="4297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80">
                <a:solidFill>
                  <a:srgbClr val="35E59A"/>
                </a:solidFill>
              </a:defRPr>
            </a:pPr>
            <a:r>
              <a:t>✔ Integrated Local Offline VLM engine operating zero API key inference directly on local edge hardware.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833872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980">
                <a:solidFill>
                  <a:srgbClr val="FF526A"/>
                </a:solidFill>
              </a:defRPr>
            </a:pPr>
            <a:r>
              <a:t>05. Data Privacy &amp; Multi-Tenant Security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31920" y="5833872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80">
                <a:solidFill>
                  <a:srgbClr val="8EA4BF"/>
                </a:solidFill>
              </a:defRPr>
            </a:pPr>
            <a:r>
              <a:t>Sensitive intelligence queries leaked across shared user sessions.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5833872"/>
            <a:ext cx="4297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80">
                <a:solidFill>
                  <a:srgbClr val="35E59A"/>
                </a:solidFill>
              </a:defRPr>
            </a:pPr>
            <a:r>
              <a:t>✔ JWT HS256 auth with strict account-specific MongoDB query filtering preventing cross-tenant leakage.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9101E"/>
          </a:solidFill>
          <a:ln w="12700">
            <a:solidFill>
              <a:srgbClr val="1B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9FF"/>
                </a:solidFill>
                <a:latin typeface="Plus Jakarta Sans"/>
              </a:defRPr>
            </a:pPr>
            <a:r>
              <a:t>SMART INDIA HACKATHON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8686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AF6FF"/>
                </a:solidFill>
                <a:latin typeface="Plus Jakarta Sans"/>
              </a:defRPr>
            </a:pPr>
            <a:r>
              <a:t>IMPACT AND MULTI-SECTOR BENEFITS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164592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50" b="1">
                <a:solidFill>
                  <a:srgbClr val="35E59A"/>
                </a:solidFill>
                <a:latin typeface="JetBrains Mono"/>
              </a:defRPr>
            </a:pPr>
            <a:r>
              <a:t>SIH26167 · ISRO ASSISTANT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9101E"/>
          </a:solidFill>
          <a:ln w="12700">
            <a:solidFill>
              <a:srgbClr val="1B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8EA4BF"/>
                </a:solidFill>
                <a:latin typeface="Plus Jakarta Sans"/>
              </a:defRPr>
            </a:pPr>
            <a:r>
              <a:t>SatQuery AI — Autonomous Multimodal Vision-Language &amp; SAM 2.1 Remote Sensing Workspace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65392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0D9FF"/>
                </a:solidFill>
                <a:latin typeface="JetBrains Mono"/>
              </a:defRPr>
            </a:pPr>
            <a: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960120"/>
            <a:ext cx="5303520" cy="5394960"/>
          </a:xfrm>
          <a:prstGeom prst="roundRect">
            <a:avLst/>
          </a:prstGeom>
          <a:solidFill>
            <a:srgbClr val="0B1424"/>
          </a:solidFill>
          <a:ln w="1524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069848"/>
            <a:ext cx="49743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D9FF"/>
                </a:solidFill>
                <a:latin typeface="Plus Jakarta Sans"/>
              </a:defRPr>
            </a:pPr>
            <a:r>
              <a:t>👥 Potential Impact on Targeted Stakeholders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417320"/>
            <a:ext cx="49377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00D9FF"/>
                </a:solidFill>
              </a:rPr>
              <a:t>• ISRO &amp; Space Agencies: </a:t>
            </a:r>
            <a:r>
              <a:rPr sz="1000">
                <a:solidFill>
                  <a:srgbClr val="EAF6FF"/>
                </a:solidFill>
              </a:rPr>
              <a:t>Accelerates automated scene analysis across Bhuvan, Cartosat, and RISAT data streams, reducing manual photogrammetry workloads by 75%.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0D9FF"/>
                </a:solidFill>
              </a:rPr>
              <a:t>• National Disaster Authorities (NDRF/SDMA): </a:t>
            </a:r>
            <a:r>
              <a:rPr sz="1000">
                <a:solidFill>
                  <a:srgbClr val="EAF6FF"/>
                </a:solidFill>
              </a:rPr>
              <a:t>Instant bi-temporal flood, landslide, and cyclone damage assessment in minutes with automated anomaly flagging.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0D9FF"/>
                </a:solidFill>
              </a:rPr>
              <a:t>• Defense &amp; Border Surveillance: </a:t>
            </a:r>
            <a:r>
              <a:rPr sz="1000">
                <a:solidFill>
                  <a:srgbClr val="EAF6FF"/>
                </a:solidFill>
              </a:rPr>
              <a:t>All-weather optical + SAR radar fusion enables persistent day/night reconnaissance and camouflage detection.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0D9FF"/>
                </a:solidFill>
              </a:rPr>
              <a:t>• Agriculture &amp; Irrigation Ministries: </a:t>
            </a:r>
            <a:r>
              <a:rPr sz="1000">
                <a:solidFill>
                  <a:srgbClr val="EAF6FF"/>
                </a:solidFill>
              </a:rPr>
              <a:t>Continuous radiometric crop health monitoring (NDVI) and automated reservoir water volume change tracking.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0D9FF"/>
                </a:solidFill>
              </a:rPr>
              <a:t>• Urban Planning &amp; Infrastructure (Town Planners): </a:t>
            </a:r>
            <a:r>
              <a:rPr sz="1000">
                <a:solidFill>
                  <a:srgbClr val="EAF6FF"/>
                </a:solidFill>
              </a:rPr>
              <a:t>Identifies illegal constructions, urban sprawl encroachments, and road transit expansions with sub-pixel SAM 2.1 masks.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960120"/>
            <a:ext cx="5577840" cy="1645920"/>
          </a:xfrm>
          <a:prstGeom prst="roundRect">
            <a:avLst/>
          </a:prstGeom>
          <a:solidFill>
            <a:srgbClr val="0B1424"/>
          </a:solidFill>
          <a:ln w="15240">
            <a:solidFill>
              <a:srgbClr val="35E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069848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35E59A"/>
                </a:solidFill>
              </a:defRPr>
            </a:pPr>
            <a:r>
              <a:t>★ Social Impact</a:t>
            </a:r>
          </a:p>
          <a:p>
            <a:pPr>
              <a:spcBef>
                <a:spcPts val="400"/>
              </a:spcBef>
              <a:defRPr sz="1019">
                <a:solidFill>
                  <a:srgbClr val="EAF6FF"/>
                </a:solidFill>
              </a:defRPr>
            </a:pPr>
            <a:r>
              <a:t>Democratizes complex remote sensing intelligence for ground personnel, field responders, and rural district collectors through intuitive natural language queries without GIS expertise.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2752344"/>
            <a:ext cx="5577840" cy="1645920"/>
          </a:xfrm>
          <a:prstGeom prst="roundRect">
            <a:avLst/>
          </a:prstGeom>
          <a:solidFill>
            <a:srgbClr val="0B1424"/>
          </a:solidFill>
          <a:ln w="15240"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862072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FFB84D"/>
                </a:solidFill>
              </a:defRPr>
            </a:pPr>
            <a:r>
              <a:t>★ Economic Impact</a:t>
            </a:r>
          </a:p>
          <a:p>
            <a:pPr>
              <a:spcBef>
                <a:spcPts val="400"/>
              </a:spcBef>
              <a:defRPr sz="1019">
                <a:solidFill>
                  <a:srgbClr val="EAF6FF"/>
                </a:solidFill>
              </a:defRPr>
            </a:pPr>
            <a:r>
              <a:t>Saves crores in proprietary GIS licensing and satellite data inspection costs; prevents disaster economic losses via predictive flood and structural failure early warnings.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4544568"/>
            <a:ext cx="5577840" cy="1645920"/>
          </a:xfrm>
          <a:prstGeom prst="roundRect">
            <a:avLst/>
          </a:prstGeom>
          <a:solidFill>
            <a:srgbClr val="0B1424"/>
          </a:solidFill>
          <a:ln w="1524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4654296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0D9FF"/>
                </a:solidFill>
              </a:defRPr>
            </a:pPr>
            <a:r>
              <a:t>★ Environmental &amp; Climate Impact</a:t>
            </a:r>
          </a:p>
          <a:p>
            <a:pPr>
              <a:spcBef>
                <a:spcPts val="400"/>
              </a:spcBef>
              <a:defRPr sz="1019">
                <a:solidFill>
                  <a:srgbClr val="EAF6FF"/>
                </a:solidFill>
              </a:defRPr>
            </a:pPr>
            <a:r>
              <a:t>Enables rigorous monitoring of deforestation, illegal mining, mangrove shrinkage, and carbon sink reduction aligned with India's Net-Zero climate pledges.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9101E"/>
          </a:solidFill>
          <a:ln w="12700">
            <a:solidFill>
              <a:srgbClr val="1B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9FF"/>
                </a:solidFill>
                <a:latin typeface="Plus Jakarta Sans"/>
              </a:defRPr>
            </a:pPr>
            <a:r>
              <a:t>SMART INDIA HACKATHON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8686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AF6FF"/>
                </a:solidFill>
                <a:latin typeface="Plus Jakarta Sans"/>
              </a:defRPr>
            </a:pPr>
            <a:r>
              <a:t>RESEARCH, BENCHMARK DATASETS &amp; 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164592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50" b="1">
                <a:solidFill>
                  <a:srgbClr val="35E59A"/>
                </a:solidFill>
                <a:latin typeface="JetBrains Mono"/>
              </a:defRPr>
            </a:pPr>
            <a:r>
              <a:t>SIH26167 · ISRO ASSISTANT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9101E"/>
          </a:solidFill>
          <a:ln w="12700">
            <a:solidFill>
              <a:srgbClr val="1B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8EA4BF"/>
                </a:solidFill>
                <a:latin typeface="Plus Jakarta Sans"/>
              </a:defRPr>
            </a:pPr>
            <a:r>
              <a:t>SatQuery AI — Autonomous Multimodal Vision-Language &amp; SAM 2.1 Remote Sensing Workspace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65392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0D9FF"/>
                </a:solidFill>
                <a:latin typeface="JetBrains Mono"/>
              </a:defRPr>
            </a:pPr>
            <a: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960120"/>
            <a:ext cx="11091672" cy="2468880"/>
          </a:xfrm>
          <a:prstGeom prst="roundRect">
            <a:avLst/>
          </a:prstGeom>
          <a:solidFill>
            <a:srgbClr val="0B1424"/>
          </a:solidFill>
          <a:ln w="15240">
            <a:solidFill>
              <a:srgbClr val="35E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069848"/>
            <a:ext cx="10762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D9FF"/>
                </a:solidFill>
                <a:latin typeface="Plus Jakarta Sans"/>
              </a:defRPr>
            </a:pPr>
            <a:r>
              <a:t>📊 Evaluated Benchmark Suites (SIH26167 Requirements)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417320"/>
            <a:ext cx="5120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50">
                <a:solidFill>
                  <a:srgbClr val="00D9FF"/>
                </a:solidFill>
              </a:defRPr>
            </a:pPr>
            <a:r>
              <a:t>• BigEarthNet-19 Benchmark:</a:t>
            </a:r>
          </a:p>
          <a:p>
            <a:pPr>
              <a:spcBef>
                <a:spcPts val="200"/>
              </a:spcBef>
              <a:defRPr sz="919">
                <a:solidFill>
                  <a:srgbClr val="EAF6FF"/>
                </a:solidFill>
              </a:defRPr>
            </a:pPr>
            <a:r>
              <a:t>Large-scale multi-spectral Sentinel-2 benchmark (590,326 tiles across 19 CORINE land-cover classes). Integrated directly into our radiometric feature extractor.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417320"/>
            <a:ext cx="5120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50">
                <a:solidFill>
                  <a:srgbClr val="00D9FF"/>
                </a:solidFill>
              </a:defRPr>
            </a:pPr>
            <a:r>
              <a:t>• VRSBench (Visual Remote Sensing):</a:t>
            </a:r>
          </a:p>
          <a:p>
            <a:pPr>
              <a:spcBef>
                <a:spcPts val="200"/>
              </a:spcBef>
              <a:defRPr sz="919">
                <a:solidFill>
                  <a:srgbClr val="EAF6FF"/>
                </a:solidFill>
              </a:defRPr>
            </a:pPr>
            <a:r>
              <a:t>Comprehensive visual question answering and grounded captioning benchmark evaluating spatial resolution and optical object detection.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377440"/>
            <a:ext cx="5120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50">
                <a:solidFill>
                  <a:srgbClr val="00D9FF"/>
                </a:solidFill>
              </a:defRPr>
            </a:pPr>
            <a:r>
              <a:t>• RSVQA (Remote Sensing VQA):</a:t>
            </a:r>
          </a:p>
          <a:p>
            <a:pPr>
              <a:spcBef>
                <a:spcPts val="200"/>
              </a:spcBef>
              <a:defRPr sz="919">
                <a:solidFill>
                  <a:srgbClr val="EAF6FF"/>
                </a:solidFill>
              </a:defRPr>
            </a:pPr>
            <a:r>
              <a:t>Standardized low/high-resolution remote sensing visual question answering evaluating numeric counting, presence, and rural/urban comparison.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377440"/>
            <a:ext cx="5120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50">
                <a:solidFill>
                  <a:srgbClr val="00D9FF"/>
                </a:solidFill>
              </a:defRPr>
            </a:pPr>
            <a:r>
              <a:t>• CDVQA &amp; ChangeFormer (Change Detection):</a:t>
            </a:r>
          </a:p>
          <a:p>
            <a:pPr>
              <a:spcBef>
                <a:spcPts val="200"/>
              </a:spcBef>
              <a:defRPr sz="919">
                <a:solidFill>
                  <a:srgbClr val="EAF6FF"/>
                </a:solidFill>
              </a:defRPr>
            </a:pPr>
            <a:r>
              <a:t>Change detection visual question answering and bi-temporal difference benchmarking for temporal building growth, deforestation, and water retreat.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566160"/>
            <a:ext cx="11091672" cy="2788920"/>
          </a:xfrm>
          <a:prstGeom prst="roundRect">
            <a:avLst/>
          </a:prstGeom>
          <a:solidFill>
            <a:srgbClr val="0B1424"/>
          </a:solidFill>
          <a:ln w="15240">
            <a:solidFill>
              <a:srgbClr val="8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675888"/>
            <a:ext cx="10762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D9FF"/>
                </a:solidFill>
                <a:latin typeface="Plus Jakarta Sans"/>
              </a:defRPr>
            </a:pPr>
            <a:r>
              <a:t>📚 Authoritative Academic &amp; Government References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977639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980">
                <a:solidFill>
                  <a:srgbClr val="00D9FF"/>
                </a:solidFill>
              </a:rPr>
              <a:t>[1] ISRO National Remote Sensing Centre (NRSC) — </a:t>
            </a:r>
            <a:r>
              <a:rPr sz="919">
                <a:solidFill>
                  <a:srgbClr val="8EA4BF"/>
                </a:solidFill>
              </a:rPr>
              <a:t>Bhuvan Geoportal Data Specifications and IRS Satellite Sensors (Cartosat, Resourcesat, RISAT-1A SAR Microwave Backscatter Standards).</a:t>
            </a:r>
          </a:p>
          <a:p>
            <a:pPr>
              <a:spcAft>
                <a:spcPts val="600"/>
              </a:spcAft>
            </a:pPr>
            <a:r>
              <a:rPr b="1" sz="980">
                <a:solidFill>
                  <a:srgbClr val="00D9FF"/>
                </a:solidFill>
              </a:rPr>
              <a:t>[2] Meta AI Research (2024) — </a:t>
            </a:r>
            <a:r>
              <a:rPr sz="919">
                <a:solidFill>
                  <a:srgbClr val="8EA4BF"/>
                </a:solidFill>
              </a:rPr>
              <a:t>SAM 2: Segment Anything Model 2 in Images and Videos. High-accuracy zero-shot promptable visual mask generator applied to satellite features.</a:t>
            </a:r>
          </a:p>
          <a:p>
            <a:pPr>
              <a:spcAft>
                <a:spcPts val="600"/>
              </a:spcAft>
            </a:pPr>
            <a:r>
              <a:rPr b="1" sz="980">
                <a:solidFill>
                  <a:srgbClr val="00D9FF"/>
                </a:solidFill>
              </a:rPr>
              <a:t>[3] Kembhavi et al. / GeoChat (2024) — </a:t>
            </a:r>
            <a:r>
              <a:rPr sz="919">
                <a:solidFill>
                  <a:srgbClr val="8EA4BF"/>
                </a:solidFill>
              </a:rPr>
              <a:t>GeoChat: Grounded Large Vision-Language Model for Remote Sensing. IEEE CVPR / Specialized RS-VLM domain adaptation foundations.</a:t>
            </a:r>
          </a:p>
          <a:p>
            <a:pPr>
              <a:spcAft>
                <a:spcPts val="600"/>
              </a:spcAft>
            </a:pPr>
            <a:r>
              <a:rPr b="1" sz="980">
                <a:solidFill>
                  <a:srgbClr val="00D9FF"/>
                </a:solidFill>
              </a:rPr>
              <a:t>[4] Sumbul et al. / TU Berlin (2021) — </a:t>
            </a:r>
            <a:r>
              <a:rPr sz="919">
                <a:solidFill>
                  <a:srgbClr val="8EA4BF"/>
                </a:solidFill>
              </a:rPr>
              <a:t>BigEarthNet: A Large-Scale Benchmark Archive for Remote Sensing Image Understanding with Deep Multi-Label Classification.</a:t>
            </a:r>
          </a:p>
          <a:p>
            <a:pPr>
              <a:spcAft>
                <a:spcPts val="600"/>
              </a:spcAft>
            </a:pPr>
            <a:r>
              <a:rPr b="1" sz="980">
                <a:solidFill>
                  <a:srgbClr val="00D9FF"/>
                </a:solidFill>
              </a:rPr>
              <a:t>[5] European Space Agency (ESA) — </a:t>
            </a:r>
            <a:r>
              <a:rPr sz="919">
                <a:solidFill>
                  <a:srgbClr val="8EA4BF"/>
                </a:solidFill>
              </a:rPr>
              <a:t>Sentinel-1 SAR Radar &amp; Sentinel-2 MSI Multi-Spectral Instrument Level-1C/2A Scientific Radiometric Radiance Formats.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