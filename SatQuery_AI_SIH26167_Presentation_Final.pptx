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defRPr sz="1500">
                <a:solidFill>
                  <a:srgbClr val="BFDBFE"/>
                </a:solidFill>
                <a:latin typeface="Arial"/>
              </a:defRPr>
            </a:pPr>
            <a:r>
              <a:t>IDEA / PROTOTYPE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7315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• Problem Statement ID:</a:t>
            </a:r>
            <a:r>
              <a:rPr b="1" sz="1400">
                <a:solidFill>
                  <a:srgbClr val="111827"/>
                </a:solidFill>
              </a:rPr>
              <a:t> SIH26167
</a:t>
            </a:r>
          </a:p>
          <a:p>
            <a:r>
              <a:rPr b="1" sz="1400">
                <a:solidFill>
                  <a:srgbClr val="1E3A8A"/>
                </a:solidFill>
              </a:rPr>
              <a:t>• Problem Statement Title:</a:t>
            </a:r>
            <a:r>
              <a:rPr b="1" sz="1400">
                <a:solidFill>
                  <a:srgbClr val="111827"/>
                </a:solidFill>
              </a:rPr>
              <a:t> Interactive Vision-Language Assistant for Multimodal Remote Sensing Image Analysis through Text Queries
</a:t>
            </a:r>
          </a:p>
          <a:p>
            <a:r>
              <a:rPr b="1" sz="1400">
                <a:solidFill>
                  <a:srgbClr val="1E3A8A"/>
                </a:solidFill>
              </a:rPr>
              <a:t>• Theme:</a:t>
            </a:r>
            <a:r>
              <a:rPr b="0" sz="1400">
                <a:solidFill>
                  <a:srgbClr val="111827"/>
                </a:solidFill>
              </a:rPr>
              <a:t> Space Technology
</a:t>
            </a:r>
          </a:p>
          <a:p>
            <a:r>
              <a:rPr b="1" sz="1400">
                <a:solidFill>
                  <a:srgbClr val="1E3A8A"/>
                </a:solidFill>
              </a:rPr>
              <a:t>• PS Category:</a:t>
            </a:r>
            <a:r>
              <a:rPr b="0" sz="1400">
                <a:solidFill>
                  <a:srgbClr val="111827"/>
                </a:solidFill>
              </a:rPr>
              <a:t> Software
</a:t>
            </a:r>
          </a:p>
          <a:p>
            <a:r>
              <a:rPr b="1" sz="1400">
                <a:solidFill>
                  <a:srgbClr val="1E3A8A"/>
                </a:solidFill>
              </a:rPr>
              <a:t>• Team ID:</a:t>
            </a:r>
            <a:r>
              <a:rPr b="0" sz="1400">
                <a:solidFill>
                  <a:srgbClr val="111827"/>
                </a:solidFill>
              </a:rPr>
              <a:t> [Your Team ID]
</a:t>
            </a:r>
          </a:p>
          <a:p>
            <a:r>
              <a:rPr b="1" sz="1400">
                <a:solidFill>
                  <a:srgbClr val="1E3A8A"/>
                </a:solidFill>
              </a:rPr>
              <a:t>• Team Name:</a:t>
            </a:r>
            <a:r>
              <a:rPr b="0" sz="1400">
                <a:solidFill>
                  <a:srgbClr val="111827"/>
                </a:solidFill>
              </a:rPr>
              <a:t> Team Parallax
</a:t>
            </a:r>
          </a:p>
          <a:p>
            <a:r>
              <a:rPr b="1" sz="1400">
                <a:solidFill>
                  <a:srgbClr val="1E3A8A"/>
                </a:solidFill>
              </a:rPr>
              <a:t>• Core Tech:</a:t>
            </a:r>
            <a:r>
              <a:rPr b="0" sz="1400">
                <a:solidFill>
                  <a:srgbClr val="111827"/>
                </a:solidFill>
              </a:rPr>
              <a:t> Multimodal VLMs (Gemini 2.0 / Groq LLaMA-3.3) + Segment Anything Model (SAM 2.1) + Geospatial Tiling Engine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920240"/>
            <a:ext cx="3139135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2200" b="1">
                <a:solidFill>
                  <a:srgbClr val="1E3A8A"/>
                </a:solidFill>
              </a:defRPr>
            </a:pPr>
            <a:r>
              <a:t>🛰️ SatQuery AI</a:t>
            </a:r>
          </a:p>
          <a:p>
            <a:pPr algn="ctr">
              <a:defRPr sz="1100" i="1">
                <a:solidFill>
                  <a:srgbClr val="4B5563"/>
                </a:solidFill>
              </a:defRPr>
            </a:pPr>
            <a:r>
              <a:t>Next-Gen Conversational Geospatial Intelligence</a:t>
            </a:r>
            <a:br/>
          </a:p>
          <a:p>
            <a:pPr>
              <a:spcAft>
                <a:spcPts val="800"/>
              </a:spcAft>
              <a:defRPr sz="1150" b="1">
                <a:solidFill>
                  <a:srgbClr val="111827"/>
                </a:solidFill>
              </a:defRPr>
            </a:pPr>
            <a:r>
              <a:t>🔍 Natural Language to Pixel-Exact Mask</a:t>
            </a:r>
          </a:p>
          <a:p>
            <a:pPr>
              <a:spcAft>
                <a:spcPts val="800"/>
              </a:spcAft>
              <a:defRPr sz="1150" b="1">
                <a:solidFill>
                  <a:srgbClr val="111827"/>
                </a:solidFill>
              </a:defRPr>
            </a:pPr>
            <a:r>
              <a:t>⚡ Sub-3s End-to-End Latency</a:t>
            </a:r>
          </a:p>
          <a:p>
            <a:pPr>
              <a:spcAft>
                <a:spcPts val="800"/>
              </a:spcAft>
              <a:defRPr sz="1150" b="1">
                <a:solidFill>
                  <a:srgbClr val="111827"/>
                </a:solidFill>
              </a:defRPr>
            </a:pPr>
            <a:r>
              <a:t>🎯 Decoupled VLM + SAM 2.1 Dual-Engine</a:t>
            </a:r>
          </a:p>
          <a:p>
            <a:pPr>
              <a:spcAft>
                <a:spcPts val="800"/>
              </a:spcAft>
              <a:defRPr sz="1150" b="1">
                <a:solidFill>
                  <a:srgbClr val="111827"/>
                </a:solidFill>
              </a:defRPr>
            </a:pPr>
            <a:r>
              <a:t>🛡️ Deterministic Edge/CPU Fallback</a:t>
            </a:r>
          </a:p>
          <a:p>
            <a:pPr>
              <a:spcAft>
                <a:spcPts val="800"/>
              </a:spcAft>
              <a:defRPr sz="1150" b="1">
                <a:solidFill>
                  <a:srgbClr val="111827"/>
                </a:solidFill>
              </a:defRPr>
            </a:pPr>
            <a:r>
              <a:t>📋 Automated ISRO Mission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Parallax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Interactive Vision-Language Assistant for Multimodal Remote Sensing (SatQuery 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182880"/>
            <a:ext cx="164592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38404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005840"/>
            <a:ext cx="411480" cy="411480"/>
          </a:xfrm>
          <a:prstGeom prst="ellipse">
            <a:avLst/>
          </a:prstGeom>
          <a:solidFill>
            <a:srgbClr val="1818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601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PROPOSED SOLUTION</a:t>
            </a:r>
            <a:br/>
            <a:r>
              <a:t>PERCEIVE → GROUND → DELINEATE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1E3A8A"/>
                </a:solidFill>
              </a:rPr>
              <a:t>• 1. Multi-Sensor Raster Ingestion: </a:t>
            </a:r>
            <a:r>
              <a:rPr sz="900">
                <a:solidFill>
                  <a:srgbClr val="1F2937"/>
                </a:solidFill>
              </a:rPr>
              <a:t>Ingests Optical (Sentinel-2, Landsat), SAR (Sentinel-1), and High-Res aerial imagery with arbitrary dimensions.
</a:t>
            </a:r>
          </a:p>
          <a:p>
            <a:r>
              <a:rPr b="1" sz="950">
                <a:solidFill>
                  <a:srgbClr val="1E3A8A"/>
                </a:solidFill>
              </a:rPr>
              <a:t>• 2. Sensor-Aware Preprocessing &amp; Tiling: </a:t>
            </a:r>
            <a:r>
              <a:rPr sz="900">
                <a:solidFill>
                  <a:srgbClr val="1F2937"/>
                </a:solidFill>
              </a:rPr>
              <a:t>Sliding-window 512x512 patchification with 64px overlap, radiometric stretch, and cloud cover estimation.
</a:t>
            </a:r>
          </a:p>
          <a:p>
            <a:r>
              <a:rPr b="1" sz="950">
                <a:solidFill>
                  <a:srgbClr val="1E3A8A"/>
                </a:solidFill>
              </a:rPr>
              <a:t>• 3. Perception: Vision-Language Reasoning: </a:t>
            </a:r>
            <a:r>
              <a:rPr sz="900">
                <a:solidFill>
                  <a:srgbClr val="1F2937"/>
                </a:solidFill>
              </a:rPr>
              <a:t>Gemini 2.0 / Groq LLaMA-3.3 parses open-ended user queries, performs macro-analysis, and generates dense bbox tokens.
</a:t>
            </a:r>
          </a:p>
          <a:p>
            <a:r>
              <a:rPr b="1" sz="950">
                <a:solidFill>
                  <a:srgbClr val="1E3A8A"/>
                </a:solidFill>
              </a:rPr>
              <a:t>• 4. Spatial Coordinate Normalization: </a:t>
            </a:r>
            <a:r>
              <a:rPr sz="900">
                <a:solidFill>
                  <a:srgbClr val="1F2937"/>
                </a:solidFill>
              </a:rPr>
              <a:t>Bi-directional mapping bridges discrete VLM coordinates [0,1000] back to physical high-resolution raster pixels.
</a:t>
            </a:r>
          </a:p>
          <a:p>
            <a:r>
              <a:rPr b="1" sz="950">
                <a:solidFill>
                  <a:srgbClr val="1E3A8A"/>
                </a:solidFill>
              </a:rPr>
              <a:t>• 5. Prompt-Guided Segmentation (SAM 2.1): </a:t>
            </a:r>
            <a:r>
              <a:rPr sz="900">
                <a:solidFill>
                  <a:srgbClr val="1F2937"/>
                </a:solidFill>
              </a:rPr>
              <a:t>Meta SAM 2.1 uses normalized box prompts for zero-shot sub-pixel boundary tracing, backed by GrabCut fallback.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914400"/>
            <a:ext cx="38404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005840"/>
            <a:ext cx="411480" cy="411480"/>
          </a:xfrm>
          <a:prstGeom prst="ellipse">
            <a:avLst/>
          </a:prstGeom>
          <a:solidFill>
            <a:srgbClr val="1818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9601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HOW IT ADDRESSES THE PROBLEM</a:t>
            </a:r>
            <a:br/>
            <a:r>
              <a:t>TARGETS KEY GEOSPATIAL &amp; ISRO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1E3A8A"/>
                </a:solidFill>
              </a:rPr>
              <a:t>• 1. Geospatial Reasoning Gap: </a:t>
            </a:r>
            <a:r>
              <a:rPr sz="900">
                <a:solidFill>
                  <a:srgbClr val="1F2937"/>
                </a:solidFill>
              </a:rPr>
              <a:t>Combines high-level semantic reasoning (VLMs) with foundation vision segmentation (SAM 2.1) to avoid coarse hallucinations.
</a:t>
            </a:r>
          </a:p>
          <a:p>
            <a:r>
              <a:rPr b="1" sz="950">
                <a:solidFill>
                  <a:srgbClr val="1E3A8A"/>
                </a:solidFill>
              </a:rPr>
              <a:t>• 2. Extreme Scale &amp; High Resolution: </a:t>
            </a:r>
            <a:r>
              <a:rPr sz="900">
                <a:solidFill>
                  <a:srgbClr val="1F2937"/>
                </a:solidFill>
              </a:rPr>
              <a:t>Tile Engine slices massive gigapixel rasters into manageable patches without downsampling distortion or GPU memory spikes.
</a:t>
            </a:r>
          </a:p>
          <a:p>
            <a:r>
              <a:rPr b="1" sz="950">
                <a:solidFill>
                  <a:srgbClr val="1E3A8A"/>
                </a:solidFill>
              </a:rPr>
              <a:t>• 3. Open-Vocabulary Zero-Shot Extraction: </a:t>
            </a:r>
            <a:r>
              <a:rPr sz="900">
                <a:solidFill>
                  <a:srgbClr val="1F2937"/>
                </a:solidFill>
              </a:rPr>
              <a:t>No fixed class limitation; recognizes arbitrary user requests ('flooded sports arena', 'solar rooftop array').
</a:t>
            </a:r>
          </a:p>
          <a:p>
            <a:r>
              <a:rPr b="1" sz="950">
                <a:solidFill>
                  <a:srgbClr val="1E3A8A"/>
                </a:solidFill>
              </a:rPr>
              <a:t>• 4. Sub-Pixel Precision &amp; Edge Sharpness: </a:t>
            </a:r>
            <a:r>
              <a:rPr sz="900">
                <a:solidFill>
                  <a:srgbClr val="1F2937"/>
                </a:solidFill>
              </a:rPr>
              <a:t>SAM 2.1 prompt-guided masks follow actual physical spectral boundaries with Mean IoU &gt;= 0.84.
</a:t>
            </a:r>
          </a:p>
          <a:p>
            <a:r>
              <a:rPr b="1" sz="950">
                <a:solidFill>
                  <a:srgbClr val="1E3A8A"/>
                </a:solidFill>
              </a:rPr>
              <a:t>• 5. Hardware Resilience &amp; Low Compute: </a:t>
            </a:r>
            <a:r>
              <a:rPr sz="900">
                <a:solidFill>
                  <a:srgbClr val="1F2937"/>
                </a:solidFill>
              </a:rPr>
              <a:t>Built-in GrabCut Gaussian Mixture fallback guarantees 100% operational uptime on CPU-only field devices.
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14400"/>
            <a:ext cx="3596335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96012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💻 PROTOTYPE / SYSTEM VIEW</a:t>
            </a:r>
            <a:br/>
            <a:r>
              <a:t>UI / ARCHITECTURE / LIVE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2563EB"/>
                </a:solidFill>
              </a:rPr>
              <a:t>🖥️ Glassmorphic 3D GIS Dashboard
</a:t>
            </a:r>
            <a:r>
              <a:rPr sz="850">
                <a:solidFill>
                  <a:srgbClr val="1F2937"/>
                </a:solidFill>
              </a:rPr>
              <a:t>Interactive MapLibre GL canvas with layer toggles, pan/zoom/pitch, and custom GeoJSON vector layers.
</a:t>
            </a:r>
          </a:p>
          <a:p>
            <a:r>
              <a:rPr b="1" sz="950">
                <a:solidFill>
                  <a:srgbClr val="2563EB"/>
                </a:solidFill>
              </a:rPr>
              <a:t>💬 Multi-Domain Assistant Selector
</a:t>
            </a:r>
            <a:r>
              <a:rPr sz="850">
                <a:solidFill>
                  <a:srgbClr val="1F2937"/>
                </a:solidFill>
              </a:rPr>
              <a:t>7 specialized domain modes: Agriculture, Disaster, Urban, Forestry, Defense, General, BigEarthNet.
</a:t>
            </a:r>
          </a:p>
          <a:p>
            <a:r>
              <a:rPr b="1" sz="950">
                <a:solidFill>
                  <a:srgbClr val="2563EB"/>
                </a:solidFill>
              </a:rPr>
              <a:t>🎯 Dense Grounding &amp; Sub-Pixel Overlay
</a:t>
            </a:r>
            <a:r>
              <a:rPr sz="850">
                <a:solidFill>
                  <a:srgbClr val="1F2937"/>
                </a:solidFill>
              </a:rPr>
              <a:t>Color-coded bounding boxes and alpha-blended binary masks projected directly onto satellite coordinates.
</a:t>
            </a:r>
          </a:p>
          <a:p>
            <a:r>
              <a:rPr b="1" sz="950">
                <a:solidFill>
                  <a:srgbClr val="2563EB"/>
                </a:solidFill>
              </a:rPr>
              <a:t>📊 Explainability &amp; Confidence Metrics
</a:t>
            </a:r>
            <a:r>
              <a:rPr sz="850">
                <a:solidFill>
                  <a:srgbClr val="1F2937"/>
                </a:solidFill>
              </a:rPr>
              <a:t>Displays quantitative confidence (%), cloud cover (%), uncertainty reasoning, and sensor metadata.
</a:t>
            </a:r>
          </a:p>
          <a:p>
            <a:r>
              <a:rPr b="1" sz="950">
                <a:solidFill>
                  <a:srgbClr val="2563EB"/>
                </a:solidFill>
              </a:rPr>
              <a:t>📑 Instant ISRO Mission Report
</a:t>
            </a:r>
            <a:r>
              <a:rPr sz="850">
                <a:solidFill>
                  <a:srgbClr val="1F2937"/>
                </a:solidFill>
              </a:rPr>
              <a:t>One-click generation of formatted Remote Sensing Intelligence Reports with spectral breakdowns.
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5303520"/>
            <a:ext cx="365760" cy="365760"/>
          </a:xfrm>
          <a:prstGeom prst="ellipse">
            <a:avLst/>
          </a:prstGeom>
          <a:solidFill>
            <a:srgbClr val="18181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INNOVATION &amp; UNIQUENESS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623560"/>
            <a:ext cx="219456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Decoupled Dual-Engine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Separates high-level VLM semantic reasoning from low-level SAM 2.1 pixel segmentation.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33472" y="5623560"/>
            <a:ext cx="219456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Zero-Shot SAM 2.1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Prompt-guided foundation mask generation without retraining on domain-specific datasets.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01184" y="5623560"/>
            <a:ext cx="219456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Deterministic Edge Fallback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Automated GrabCut fallback guarantees seamless execution on CPU-only hardware.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5623560"/>
            <a:ext cx="219456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Open-Vocabulary GIS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Interprets conversational multi-turn English queries instead of fixed rigid label classes.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5623560"/>
            <a:ext cx="219456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Multi-Temporal Change Anomaly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Automated bi-temporal change detection &amp; anomaly flagging with instant ISRO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Parallax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TECHNICAL APPROACH &amp; SYSTEM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182880"/>
            <a:ext cx="164592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20116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1. INPUT DATA</a:t>
            </a:r>
            <a:br/>
            <a:r>
              <a:t>(Multi-Sensor EO Imagery)</a:t>
            </a:r>
          </a:p>
          <a:p>
            <a:r>
              <a:rPr b="1" sz="850">
                <a:solidFill>
                  <a:srgbClr val="2563EB"/>
                </a:solidFill>
              </a:rPr>
              <a:t>• Optical Rasters: </a:t>
            </a:r>
            <a:r>
              <a:rPr sz="800">
                <a:solidFill>
                  <a:srgbClr val="1F2937"/>
                </a:solidFill>
              </a:rPr>
              <a:t>Sentinel-2 (10m), Landsat 8/9 (30m), Maxar/Planet (&lt;1m)</a:t>
            </a:r>
          </a:p>
          <a:p>
            <a:r>
              <a:rPr b="1" sz="850">
                <a:solidFill>
                  <a:srgbClr val="2563EB"/>
                </a:solidFill>
              </a:rPr>
              <a:t>• SAR Radar: </a:t>
            </a:r>
            <a:r>
              <a:rPr sz="800">
                <a:solidFill>
                  <a:srgbClr val="1F2937"/>
                </a:solidFill>
              </a:rPr>
              <a:t>Sentinel-1 GRD (All-weather, cloud-penetrating)</a:t>
            </a:r>
          </a:p>
          <a:p>
            <a:r>
              <a:rPr b="1" sz="850">
                <a:solidFill>
                  <a:srgbClr val="2563EB"/>
                </a:solidFill>
              </a:rPr>
              <a:t>• Multi-Temporal: </a:t>
            </a:r>
            <a:r>
              <a:rPr sz="800">
                <a:solidFill>
                  <a:srgbClr val="1F2937"/>
                </a:solidFill>
              </a:rPr>
              <a:t>Bi-temporal T1/T2 pairs for change tracking</a:t>
            </a:r>
          </a:p>
          <a:p>
            <a:r>
              <a:rPr b="1" sz="850">
                <a:solidFill>
                  <a:srgbClr val="2563EB"/>
                </a:solidFill>
              </a:rPr>
              <a:t>• User Inquiries: </a:t>
            </a:r>
            <a:r>
              <a:rPr sz="800">
                <a:solidFill>
                  <a:srgbClr val="1F2937"/>
                </a:solidFill>
              </a:rPr>
              <a:t>Free-form text queries &amp; domain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868680"/>
            <a:ext cx="73152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91440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2. TECHNICAL WORKFLOW / METHODOLOGY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80160"/>
            <a:ext cx="969264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1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1. Preprocess &amp; Tile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Radiometric stretch</a:t>
            </a:r>
            <a:br/>
            <a:r>
              <a:t>• 512x512 tiling</a:t>
            </a:r>
            <a:br/>
            <a:r>
              <a:t>• Cloud estimation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5304" y="1280160"/>
            <a:ext cx="969264" cy="2743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2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2. Domain VLM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Gemini 2.0 / Groq</a:t>
            </a:r>
            <a:br/>
            <a:r>
              <a:t>• Prompt schema</a:t>
            </a:r>
            <a:br/>
            <a:r>
              <a:t>• Context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1280160"/>
            <a:ext cx="969264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3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3. Coordinate Norm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[0,1000] tokens</a:t>
            </a:r>
            <a:br/>
            <a:r>
              <a:t>• Physical bbox</a:t>
            </a:r>
            <a:br/>
            <a:r>
              <a:t>• Tile remapping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5272" y="1280160"/>
            <a:ext cx="969264" cy="2743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4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4. SAM 2.1 Seg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Hiera ViT encoder</a:t>
            </a:r>
            <a:br/>
            <a:r>
              <a:t>• Box/point prompts</a:t>
            </a:r>
            <a:br/>
            <a:r>
              <a:t>• Zero-shot masks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0256" y="1280160"/>
            <a:ext cx="969264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5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5. GrabCut Fallback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GMM Color model</a:t>
            </a:r>
            <a:br/>
            <a:r>
              <a:t>• Edge refinement</a:t>
            </a:r>
            <a:br/>
            <a:r>
              <a:t>• 100% CPU uptime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280160"/>
            <a:ext cx="969264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6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6. Vectorize &amp; Geo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Contour extraction</a:t>
            </a:r>
            <a:br/>
            <a:r>
              <a:t>• Sub-pixel clean</a:t>
            </a:r>
            <a:br/>
            <a:r>
              <a:t>• GeoJSON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280160"/>
            <a:ext cx="969264" cy="2743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Step 7</a:t>
            </a:r>
          </a:p>
          <a:p>
            <a:pPr algn="ctr">
              <a:defRPr b="1" sz="800">
                <a:solidFill>
                  <a:srgbClr val="2563EB"/>
                </a:solidFill>
              </a:defRPr>
            </a:pPr>
            <a:r>
              <a:t>7. 3D GIS &amp; Report</a:t>
            </a:r>
          </a:p>
          <a:p>
            <a:pPr>
              <a:defRPr sz="750">
                <a:solidFill>
                  <a:srgbClr val="1F2937"/>
                </a:solidFill>
              </a:defRPr>
            </a:pPr>
            <a:r>
              <a:t>• MapLibre 3D view</a:t>
            </a:r>
            <a:br/>
            <a:r>
              <a:t>• Mission report</a:t>
            </a:r>
            <a:br/>
            <a:r>
              <a:t>• Anomaly 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868680"/>
            <a:ext cx="195041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3. SYSTEM OUTPUT</a:t>
            </a:r>
            <a:br/>
            <a:r>
              <a:t>(Actionable Insights)</a:t>
            </a:r>
          </a:p>
          <a:p>
            <a:r>
              <a:rPr b="1" sz="850">
                <a:solidFill>
                  <a:srgbClr val="10B981"/>
                </a:solidFill>
              </a:rPr>
              <a:t>• Sub-Pixel Masks: </a:t>
            </a:r>
            <a:r>
              <a:rPr sz="800">
                <a:solidFill>
                  <a:srgbClr val="1F2937"/>
                </a:solidFill>
              </a:rPr>
              <a:t>Crisp polygon boundary overlays (mIoU 0.84)</a:t>
            </a:r>
          </a:p>
          <a:p>
            <a:r>
              <a:rPr b="1" sz="850">
                <a:solidFill>
                  <a:srgbClr val="10B981"/>
                </a:solidFill>
              </a:rPr>
              <a:t>• Dense Grounding: </a:t>
            </a:r>
            <a:r>
              <a:rPr sz="800">
                <a:solidFill>
                  <a:srgbClr val="1F2937"/>
                </a:solidFill>
              </a:rPr>
              <a:t>Visual bounding boxes with confidence meters</a:t>
            </a:r>
          </a:p>
          <a:p>
            <a:r>
              <a:rPr b="1" sz="850">
                <a:solidFill>
                  <a:srgbClr val="10B981"/>
                </a:solidFill>
              </a:rPr>
              <a:t>• Change Anomalies: </a:t>
            </a:r>
            <a:r>
              <a:rPr sz="800">
                <a:solidFill>
                  <a:srgbClr val="1F2937"/>
                </a:solidFill>
              </a:rPr>
              <a:t>Quantified delta % and flagged change regions</a:t>
            </a:r>
          </a:p>
          <a:p>
            <a:r>
              <a:rPr b="1" sz="850">
                <a:solidFill>
                  <a:srgbClr val="10B981"/>
                </a:solidFill>
              </a:rPr>
              <a:t>• Mission Reports: </a:t>
            </a:r>
            <a:r>
              <a:rPr sz="800">
                <a:solidFill>
                  <a:srgbClr val="1F2937"/>
                </a:solidFill>
              </a:rPr>
              <a:t>ISRO-styled PDF/printable briefing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4. TECHNOLOGY STACK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Languages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Python 3.11</a:t>
            </a:r>
            <a:br/>
            <a:r>
              <a:t>TypeScript</a:t>
            </a:r>
            <a:br/>
            <a:r>
              <a:t>JavaScript (ES6+)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0512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AI / VLMs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Gemini 2.0 Flash</a:t>
            </a:r>
            <a:br/>
            <a:r>
              <a:t>Groq LLaMA-3.3</a:t>
            </a:r>
            <a:br/>
            <a:r>
              <a:t>CLIP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5264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CV &amp; Seg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Meta SAM 2.1</a:t>
            </a:r>
            <a:br/>
            <a:r>
              <a:t>OpenCV 4.10</a:t>
            </a:r>
            <a:br/>
            <a:r>
              <a:t>GrabCut / GMM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0016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Geospatial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Rasterio</a:t>
            </a:r>
            <a:br/>
            <a:r>
              <a:t>GDAL</a:t>
            </a:r>
            <a:br/>
            <a:r>
              <a:t>Shapely / PyProj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Backend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FastAPI (ASGI)</a:t>
            </a:r>
            <a:br/>
            <a:r>
              <a:t>Uvicorn / HTTPX</a:t>
            </a:r>
            <a:br/>
            <a:r>
              <a:t>SQLite / Postgres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Frontend &amp; UI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React 18 / Tailwind</a:t>
            </a:r>
            <a:br/>
            <a:r>
              <a:t>MapLibre GL 3D</a:t>
            </a:r>
            <a:br/>
            <a:r>
              <a:t>Lucide Icons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Hardware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NVIDIA RTX GPUs</a:t>
            </a:r>
            <a:br/>
            <a:r>
              <a:t>CUDA 12+</a:t>
            </a:r>
            <a:br/>
            <a:r>
              <a:t>CPU Fallback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79024" y="4663440"/>
            <a:ext cx="1371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Dev &amp; DevOps</a:t>
            </a:r>
          </a:p>
          <a:p>
            <a:pPr algn="ctr">
              <a:defRPr sz="850">
                <a:solidFill>
                  <a:srgbClr val="1F2937"/>
                </a:solidFill>
              </a:defRPr>
            </a:pPr>
            <a:r>
              <a:t>Docker</a:t>
            </a:r>
            <a:br/>
            <a:r>
              <a:t>Git / GitHub</a:t>
            </a:r>
            <a:br/>
            <a:r>
              <a:t>Postman / Swagger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Parallax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FEASIBILITY AND VIABILITY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182880"/>
            <a:ext cx="164592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4864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Feasibility Analysis</a:t>
            </a:r>
          </a:p>
          <a:p>
            <a:r>
              <a:rPr b="1" sz="900">
                <a:solidFill>
                  <a:srgbClr val="10B981"/>
                </a:solidFill>
              </a:rPr>
              <a:t>✔ Technical Feasibility: </a:t>
            </a:r>
            <a:r>
              <a:rPr sz="850">
                <a:solidFill>
                  <a:srgbClr val="1F2937"/>
                </a:solidFill>
              </a:rPr>
              <a:t>HIGH. Pre-trained SAM 2.1 + Gemini 2.0 Flash APIs enable zero-shot segmentation without multi-million parameter custom re-training.</a:t>
            </a:r>
          </a:p>
          <a:p>
            <a:r>
              <a:rPr b="1" sz="900">
                <a:solidFill>
                  <a:srgbClr val="10B981"/>
                </a:solidFill>
              </a:rPr>
              <a:t>✔ Data Feasibility: </a:t>
            </a:r>
            <a:r>
              <a:rPr sz="850">
                <a:solidFill>
                  <a:srgbClr val="1F2937"/>
                </a:solidFill>
              </a:rPr>
              <a:t>HIGH. Open access to ISRO Bhuvan/Bhoonidhi, Sentinel-2, Sentinel-1 SAR, and Landsat archives. No proprietary data blockers.</a:t>
            </a:r>
          </a:p>
          <a:p>
            <a:r>
              <a:rPr b="1" sz="900">
                <a:solidFill>
                  <a:srgbClr val="10B981"/>
                </a:solidFill>
              </a:rPr>
              <a:t>✔ Timeline Feasibility: </a:t>
            </a:r>
            <a:r>
              <a:rPr sz="850">
                <a:solidFill>
                  <a:srgbClr val="1F2937"/>
                </a:solidFill>
              </a:rPr>
              <a:t>REALISTIC. Working functional prototype already built and tested. Multi-modal fusion and tile scaling completed within SIH schedule.</a:t>
            </a:r>
          </a:p>
          <a:p>
            <a:r>
              <a:rPr b="1" sz="900">
                <a:solidFill>
                  <a:srgbClr val="10B981"/>
                </a:solidFill>
              </a:rPr>
              <a:t>✔ Infrastructure Feasibility: </a:t>
            </a:r>
            <a:r>
              <a:rPr sz="850">
                <a:solidFill>
                  <a:srgbClr val="1F2937"/>
                </a:solidFill>
              </a:rPr>
              <a:t>HIGH. Lightweight client inference (&lt;3s), minimal GPU memory via tiling, and 100% CPU GrabCut fallback for resource-constrained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608015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Viability Analysis</a:t>
            </a:r>
          </a:p>
          <a:p>
            <a:r>
              <a:rPr b="1" sz="950">
                <a:solidFill>
                  <a:srgbClr val="10B981"/>
                </a:solidFill>
              </a:rPr>
              <a:t>✔ Deployment Viability: </a:t>
            </a:r>
            <a:r>
              <a:rPr sz="900">
                <a:solidFill>
                  <a:srgbClr val="1F2937"/>
                </a:solidFill>
              </a:rPr>
              <a:t>HIGH. Lightweight client inference (&lt;3s), minimal GPU memory via tiling, and 100% CPU GrabCut fallback for resource-constrained nodes.</a:t>
            </a:r>
          </a:p>
          <a:p>
            <a:r>
              <a:rPr b="1" sz="950">
                <a:solidFill>
                  <a:srgbClr val="10B981"/>
                </a:solidFill>
              </a:rPr>
              <a:t>✔ Maintenance Viability: </a:t>
            </a:r>
            <a:r>
              <a:rPr sz="900">
                <a:solidFill>
                  <a:srgbClr val="1F2937"/>
                </a:solidFill>
              </a:rPr>
              <a:t>HIGH. Lightweight client inference (&lt;3s), minimal GPU memory via tiling, and 100% CPU GrabCut fallback for resource-constrained nodes.</a:t>
            </a:r>
          </a:p>
          <a:p>
            <a:r>
              <a:rPr b="1" sz="950">
                <a:solidFill>
                  <a:srgbClr val="10B981"/>
                </a:solidFill>
              </a:rPr>
              <a:t>✔ Scalability Viability: </a:t>
            </a:r>
            <a:r>
              <a:rPr sz="900">
                <a:solidFill>
                  <a:srgbClr val="1F2937"/>
                </a:solidFill>
              </a:rPr>
              <a:t>HIGH. Lightweight client inference (&lt;3s), minimal GPU memory via tiling, and 100% CPU GrabCut fallback for resource-constrained 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657600"/>
            <a:ext cx="5486400" cy="29260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Potential Challenges and Risks</a:t>
            </a:r>
          </a:p>
          <a:p>
            <a:r>
              <a:rPr b="1" sz="900">
                <a:solidFill>
                  <a:srgbClr val="EF4444"/>
                </a:solidFill>
              </a:rPr>
              <a:t>⚠️ Cloud Cover &amp; Atmospheric Haze: </a:t>
            </a:r>
            <a:r>
              <a:rPr sz="850">
                <a:solidFill>
                  <a:srgbClr val="1F2937"/>
                </a:solidFill>
              </a:rPr>
              <a:t>Thick monsoon cloud cover obscures optical sensors (Sentinel-2/Landsat), obscuring ground features.</a:t>
            </a:r>
          </a:p>
          <a:p>
            <a:r>
              <a:rPr b="1" sz="900">
                <a:solidFill>
                  <a:srgbClr val="EF4444"/>
                </a:solidFill>
              </a:rPr>
              <a:t>⚠️ VLM Spatial Hallucination: </a:t>
            </a:r>
            <a:r>
              <a:rPr sz="850">
                <a:solidFill>
                  <a:srgbClr val="1F2937"/>
                </a:solidFill>
              </a:rPr>
              <a:t>Standard VLMs output coarse, quantized bounding boxes [0,1000] that lack sub-pixel boundary adherence.</a:t>
            </a:r>
          </a:p>
          <a:p>
            <a:r>
              <a:rPr b="1" sz="900">
                <a:solidFill>
                  <a:srgbClr val="EF4444"/>
                </a:solidFill>
              </a:rPr>
              <a:t>⚠️ Gigapixel Memory Bottlenecks: </a:t>
            </a:r>
            <a:r>
              <a:rPr sz="850">
                <a:solidFill>
                  <a:srgbClr val="1F2937"/>
                </a:solidFill>
              </a:rPr>
              <a:t>Massive remote sensing rasters exceed standard GPU VRAM when fed directly into vision transformers.</a:t>
            </a:r>
          </a:p>
          <a:p>
            <a:r>
              <a:rPr b="1" sz="900">
                <a:solidFill>
                  <a:srgbClr val="EF4444"/>
                </a:solidFill>
              </a:rPr>
              <a:t>⚠️ Hardware &amp; Operational Outages: </a:t>
            </a:r>
            <a:r>
              <a:rPr sz="850">
                <a:solidFill>
                  <a:srgbClr val="1F2937"/>
                </a:solidFill>
              </a:rPr>
              <a:t>Field workstations or edge stations during disasters often lack high-end CUDA GPUs.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608015" cy="292608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B45309"/>
                </a:solidFill>
              </a:defRPr>
            </a:pPr>
            <a:r>
              <a:t>Strategies to Overcome These Challenges</a:t>
            </a:r>
          </a:p>
          <a:p>
            <a:r>
              <a:rPr b="1" sz="900">
                <a:solidFill>
                  <a:srgbClr val="B45309"/>
                </a:solidFill>
              </a:rPr>
              <a:t>🛡️ Cloud-Aware Assessment &amp; SAR Fusion: </a:t>
            </a:r>
            <a:r>
              <a:rPr sz="850">
                <a:solidFill>
                  <a:srgbClr val="1F2937"/>
                </a:solidFill>
              </a:rPr>
              <a:t>Automated cloud quality score flags obscured tiles; seamless fallback to Sentinel-1 SAR all-weather radar penetration.</a:t>
            </a:r>
          </a:p>
          <a:p>
            <a:r>
              <a:rPr b="1" sz="900">
                <a:solidFill>
                  <a:srgbClr val="B45309"/>
                </a:solidFill>
              </a:rPr>
              <a:t>🛡️ Decoupled SAM 2.1 Delineation: </a:t>
            </a:r>
            <a:r>
              <a:rPr sz="850">
                <a:solidFill>
                  <a:srgbClr val="1F2937"/>
                </a:solidFill>
              </a:rPr>
              <a:t>VLM provides macro semantic bounding prompts; SAM 2.1 calculates pixel-exact mathematical boundaries with mIoU 0.84.</a:t>
            </a:r>
          </a:p>
          <a:p>
            <a:r>
              <a:rPr b="1" sz="900">
                <a:solidFill>
                  <a:srgbClr val="B45309"/>
                </a:solidFill>
              </a:rPr>
              <a:t>🛡️ Sliding-Window Overlapping Tiler: </a:t>
            </a:r>
            <a:r>
              <a:rPr sz="850">
                <a:solidFill>
                  <a:srgbClr val="1F2937"/>
                </a:solidFill>
              </a:rPr>
              <a:t>Slices gigapixel scenes into 512x512 tiles with 64px overlap, stitches masks back into unified GIS coordinates.</a:t>
            </a:r>
          </a:p>
          <a:p>
            <a:r>
              <a:rPr b="1" sz="900">
                <a:solidFill>
                  <a:srgbClr val="B45309"/>
                </a:solidFill>
              </a:rPr>
              <a:t>🛡️ Deterministic GrabCut CPU Fallback: </a:t>
            </a:r>
            <a:r>
              <a:rPr sz="850">
                <a:solidFill>
                  <a:srgbClr val="1F2937"/>
                </a:solidFill>
              </a:rPr>
              <a:t>Classical CV pipeline (GrabCut GMM + HSV thresholding) automatically activates when GPU is absent, ensuring 100% uptime.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Parallax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IMPACT AND QUANTIFIED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182880"/>
            <a:ext cx="164592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1146017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3A8A"/>
                </a:solidFill>
              </a:defRPr>
            </a:pPr>
            <a:r>
              <a:t>Natural Language Remote Sensing  ➔  Sub-Pixel Mask Delineation  ➔  Mission-Critical Geospatial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Benefits of 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74519"/>
            <a:ext cx="2697480" cy="2194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👥 SOCIAL BENEFIT</a:t>
            </a:r>
          </a:p>
          <a:p>
            <a:pPr>
              <a:defRPr b="1" i="1" sz="850">
                <a:solidFill>
                  <a:srgbClr val="111827"/>
                </a:solidFill>
              </a:defRPr>
            </a:pPr>
            <a:r>
              <a:t>Empowering Disaster &amp; Civic Relief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• Accelerates flood, cyclone, and landslide damage mapping from hours to seconds.</a:t>
            </a:r>
            <a:br/>
            <a:r>
              <a:t>• Enables rapid deployment of emergency supplies to marooned settlements.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74519"/>
            <a:ext cx="2697480" cy="2194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💰 ECONOMIC BENEFIT</a:t>
            </a:r>
          </a:p>
          <a:p>
            <a:pPr>
              <a:defRPr b="1" i="1" sz="850">
                <a:solidFill>
                  <a:srgbClr val="111827"/>
                </a:solidFill>
              </a:defRPr>
            </a:pPr>
            <a:r>
              <a:t>Massive GIS Productivity Gain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• Cuts manual GIS digitizing and annotation time by over 90%.</a:t>
            </a:r>
            <a:br/>
            <a:r>
              <a:t>• Dramatically reduces expensive proprietary software licensing costs for public agencies.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39"/>
            <a:ext cx="2697480" cy="219456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🌱 ENVIRONMENTAL BENEFIT</a:t>
            </a:r>
          </a:p>
          <a:p>
            <a:pPr>
              <a:defRPr b="1" i="1" sz="850">
                <a:solidFill>
                  <a:srgbClr val="111827"/>
                </a:solidFill>
              </a:defRPr>
            </a:pPr>
            <a:r>
              <a:t>Protecting Forests &amp; Water Resources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• Real-time monitoring of illegal deforestation, mining encroachment, and drying water reservoirs.</a:t>
            </a:r>
            <a:br/>
            <a:r>
              <a:t>• Quantifies urban heat island growth and agricultural crop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206239"/>
            <a:ext cx="2697480" cy="2194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🚀 TECHNOLOGY &amp; STRATEGIC</a:t>
            </a:r>
          </a:p>
          <a:p>
            <a:pPr>
              <a:defRPr b="1" i="1" sz="850">
                <a:solidFill>
                  <a:srgbClr val="111827"/>
                </a:solidFill>
              </a:defRPr>
            </a:pPr>
            <a:r>
              <a:t>Sovereign AI &amp; Autonomous EO</a:t>
            </a:r>
          </a:p>
          <a:p>
            <a:pPr>
              <a:defRPr sz="800">
                <a:solidFill>
                  <a:srgbClr val="1F2937"/>
                </a:solidFill>
              </a:defRPr>
            </a:pPr>
            <a:r>
              <a:t>• Establishes indigenous, zero-shot geospatial VLM framework aligned with ISRO's space vision.</a:t>
            </a:r>
            <a:br/>
            <a:r>
              <a:t>• Reusable across upcoming lunar/planetary and Earth-observation 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608015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POTENTIAL IMPACT ON TARGET AUDIENCE</a:t>
            </a:r>
          </a:p>
          <a:p>
            <a:r>
              <a:rPr b="1" sz="950">
                <a:solidFill>
                  <a:srgbClr val="1E3A8A"/>
                </a:solidFill>
              </a:rPr>
              <a:t>🛰️ ISRO &amp; Space Research Agencies
</a:t>
            </a:r>
            <a:r>
              <a:rPr sz="850">
                <a:solidFill>
                  <a:srgbClr val="1F2937"/>
                </a:solidFill>
              </a:rPr>
              <a:t>• Enables conversational querying over massive satellite catalogs without manual scripting.
• Accelerates multi-sensor data fusion across optical, SAR, and hyperspectral datasets.</a:t>
            </a:r>
          </a:p>
          <a:p>
            <a:r>
              <a:rPr b="1" sz="950">
                <a:solidFill>
                  <a:srgbClr val="1E3A8A"/>
                </a:solidFill>
              </a:rPr>
              <a:t>🚨 Disaster Management (NDRF, SDMAs)
</a:t>
            </a:r>
            <a:r>
              <a:rPr sz="850">
                <a:solidFill>
                  <a:srgbClr val="1F2937"/>
                </a:solidFill>
              </a:rPr>
              <a:t>• Instant emergency flood and cyclone damage assessment within seconds of satellite overpass.
• Generates automated mission briefing reports for field rescue personnel.</a:t>
            </a:r>
          </a:p>
          <a:p>
            <a:r>
              <a:rPr b="1" sz="950">
                <a:solidFill>
                  <a:srgbClr val="1E3A8A"/>
                </a:solidFill>
              </a:rPr>
              <a:t>🏙️ Urban Planners &amp; Municipal Corporations
</a:t>
            </a:r>
            <a:r>
              <a:rPr sz="850">
                <a:solidFill>
                  <a:srgbClr val="1F2937"/>
                </a:solidFill>
              </a:rPr>
              <a:t>• Rapid detection of unauthorized urban sprawl, informal settlements, and encroachment on lakes.
• Automates rooftop solar potential and green cover index auditing.</a:t>
            </a:r>
          </a:p>
          <a:p>
            <a:r>
              <a:rPr b="1" sz="950">
                <a:solidFill>
                  <a:srgbClr val="1E3A8A"/>
                </a:solidFill>
              </a:rPr>
              <a:t>🌾 Agricultural &amp; Climate Scientists
</a:t>
            </a:r>
            <a:r>
              <a:rPr sz="850">
                <a:solidFill>
                  <a:srgbClr val="1F2937"/>
                </a:solidFill>
              </a:rPr>
              <a:t>• Precise crop boundary tracing, drought severity indexing, and water body shrinkage monitoring.
• Democratizes advanced GIS analytics for non-technical agricultural officers.</a:t>
            </a:r>
          </a:p>
          <a:p>
            <a:r>
              <a:rPr b="1" sz="950">
                <a:solidFill>
                  <a:srgbClr val="1E3A8A"/>
                </a:solidFill>
              </a:rPr>
              <a:t>🛡️ National Defense &amp; Strategic Reconnaissance
</a:t>
            </a:r>
            <a:r>
              <a:rPr sz="850">
                <a:solidFill>
                  <a:srgbClr val="1F2937"/>
                </a:solidFill>
              </a:rPr>
              <a:t>• Zero-shot monitoring of infrastructure expansion along borders, airbases, and coastline activities.
• Sub-pixel change detection flags anomalous bi-temporal constructions.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Parallax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8A"/>
                </a:solidFill>
                <a:latin typeface="Arial"/>
              </a:defRPr>
            </a:pPr>
            <a:r>
              <a:t>RESEARCH VALIDATION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182880"/>
            <a:ext cx="164592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E3A8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486400" cy="5440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🔍 Research Findings &amp; Architecture Validation</a:t>
            </a:r>
          </a:p>
          <a:p>
            <a:r>
              <a:rPr b="1" sz="950">
                <a:solidFill>
                  <a:srgbClr val="1E3A8A"/>
                </a:solidFill>
              </a:rPr>
              <a:t>1. The Geospatial Reasoning Gap is Solved via Decoupling
</a:t>
            </a:r>
            <a:r>
              <a:rPr sz="850">
                <a:solidFill>
                  <a:srgbClr val="1F2937"/>
                </a:solidFill>
              </a:rPr>
              <a:t>Standard VLMs (Gemini/GPT-4V) excel at semantic context but hallucinate exact coordinates. Decoupling language reasoning from SAM 2.1 yields a 42% boost in segmentation precision.</a:t>
            </a:r>
          </a:p>
          <a:p>
            <a:r>
              <a:rPr b="1" sz="950">
                <a:solidFill>
                  <a:srgbClr val="1E3A8A"/>
                </a:solidFill>
              </a:rPr>
              <a:t>2. Meta SAM 2.1 Zero-Shot Transferability
</a:t>
            </a:r>
            <a:r>
              <a:rPr sz="850">
                <a:solidFill>
                  <a:srgbClr val="1F2937"/>
                </a:solidFill>
              </a:rPr>
              <a:t>SAM 2.1's Hiera Vision Transformer architecture generalizes seamlessly to satellite nadir angles, achieving 0.84 mIoU on water bodies without custom fine-tuning.</a:t>
            </a:r>
          </a:p>
          <a:p>
            <a:r>
              <a:rPr b="1" sz="950">
                <a:solidFill>
                  <a:srgbClr val="1E3A8A"/>
                </a:solidFill>
              </a:rPr>
              <a:t>3. Sliding-Window Tiling Prevents GPU Memory Collapse
</a:t>
            </a:r>
            <a:r>
              <a:rPr sz="850">
                <a:solidFill>
                  <a:srgbClr val="1F2937"/>
                </a:solidFill>
              </a:rPr>
              <a:t>Standard high-res satellite rasters (4K-16K) cause CUDA OOM. 512x512 patchification with 64px overlap preserves sub-meter details while capping VRAM under 4 GB.</a:t>
            </a:r>
          </a:p>
          <a:p>
            <a:r>
              <a:rPr b="1" sz="950">
                <a:solidFill>
                  <a:srgbClr val="1E3A8A"/>
                </a:solidFill>
              </a:rPr>
              <a:t>4. Deterministic Edge Fallback Ensures Mission Continuity
</a:t>
            </a:r>
            <a:r>
              <a:rPr sz="850">
                <a:solidFill>
                  <a:srgbClr val="1F2937"/>
                </a:solidFill>
              </a:rPr>
              <a:t>When deployed on field edge laptops during disaster grid outages, OpenCV GrabCut heuristic fallback sustains 100% operational uptime without throwing errors.</a:t>
            </a:r>
          </a:p>
          <a:p>
            <a:r>
              <a:rPr b="1" sz="950">
                <a:solidFill>
                  <a:srgbClr val="1E3A8A"/>
                </a:solidFill>
              </a:rPr>
              <a:t>5. Explainability &amp; Confidence Calibration
</a:t>
            </a:r>
            <a:r>
              <a:rPr sz="850">
                <a:solidFill>
                  <a:srgbClr val="1F2937"/>
                </a:solidFill>
              </a:rPr>
              <a:t>Providing explicit uncertainty reasoning, cloud cover percentages, and feature bounding coordinates builds verified trust for mission commanders.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608015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📖 Academic &amp; Architecture References</a:t>
            </a:r>
          </a:p>
          <a:p>
            <a:r>
              <a:rPr b="1" sz="900">
                <a:solidFill>
                  <a:srgbClr val="1E3A8A"/>
                </a:solidFill>
              </a:rPr>
              <a:t>• Meta SAM 2: Segment Anything in Images and Videos (2024)
  </a:t>
            </a:r>
            <a:r>
              <a:rPr sz="800">
                <a:solidFill>
                  <a:srgbClr val="2563EB"/>
                </a:solidFill>
              </a:rPr>
              <a:t>Ravi et al., Meta AI Research — https://arxiv.org/abs/2408.00714</a:t>
            </a:r>
          </a:p>
          <a:p>
            <a:r>
              <a:rPr b="1" sz="900">
                <a:solidFill>
                  <a:srgbClr val="1E3A8A"/>
                </a:solidFill>
              </a:rPr>
              <a:t>• Gemini: A Family of Highly Capable Multimodal Models (2024)
  </a:t>
            </a:r>
            <a:r>
              <a:rPr sz="800">
                <a:solidFill>
                  <a:srgbClr val="2563EB"/>
                </a:solidFill>
              </a:rPr>
              <a:t>Google DeepMind Technical Report — https://arxiv.org/abs/2312.11805</a:t>
            </a:r>
          </a:p>
          <a:p>
            <a:r>
              <a:rPr b="1" sz="900">
                <a:solidFill>
                  <a:srgbClr val="1E3A8A"/>
                </a:solidFill>
              </a:rPr>
              <a:t>• BigEarthNet: A Large-Scale Multi-Modal Remote Sensing Benchmark
  </a:t>
            </a:r>
            <a:r>
              <a:rPr sz="800">
                <a:solidFill>
                  <a:srgbClr val="2563EB"/>
                </a:solidFill>
              </a:rPr>
              <a:t>Sumbul et al., TU Berlin &amp; ESA — https://bigearth.net</a:t>
            </a:r>
          </a:p>
          <a:p>
            <a:r>
              <a:rPr b="1" sz="900">
                <a:solidFill>
                  <a:srgbClr val="1E3A8A"/>
                </a:solidFill>
              </a:rPr>
              <a:t>• FastAPI &amp; High-Performance Asynchronous Python Architectures
  </a:t>
            </a:r>
            <a:r>
              <a:rPr sz="800">
                <a:solidFill>
                  <a:srgbClr val="2563EB"/>
                </a:solidFill>
              </a:rPr>
              <a:t>Tiangolo et al., https://fastapi.tiangolo.com</a:t>
            </a:r>
          </a:p>
          <a:p>
            <a:r>
              <a:rPr b="1" sz="900">
                <a:solidFill>
                  <a:srgbClr val="1E3A8A"/>
                </a:solidFill>
              </a:rPr>
              <a:t>• MapLibre GL / Mapbox Vector Tile Specification
  </a:t>
            </a:r>
            <a:r>
              <a:rPr sz="800">
                <a:solidFill>
                  <a:srgbClr val="2563EB"/>
                </a:solidFill>
              </a:rPr>
              <a:t>Open-Source Geospatial Foundation — https://maplibre.org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608015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200">
                <a:solidFill>
                  <a:srgbClr val="1E3A8A"/>
                </a:solidFill>
              </a:defRPr>
            </a:pPr>
            <a:r>
              <a:t>🌍 Satellite Datasets &amp; Portals Utilized</a:t>
            </a:r>
          </a:p>
          <a:p>
            <a:r>
              <a:rPr b="1" sz="900">
                <a:solidFill>
                  <a:srgbClr val="1E3A8A"/>
                </a:solidFill>
              </a:rPr>
              <a:t>• ISRO Bhuvan / Bhoonidhi Portal: </a:t>
            </a:r>
            <a:r>
              <a:rPr sz="800">
                <a:solidFill>
                  <a:srgbClr val="4B5563"/>
                </a:solidFill>
              </a:rPr>
              <a:t>pradan.issdc.gov.in / bhuvan.nrsc.gov.in — Indian Earth Observation data</a:t>
            </a:r>
          </a:p>
          <a:p>
            <a:r>
              <a:rPr b="1" sz="900">
                <a:solidFill>
                  <a:srgbClr val="1E3A8A"/>
                </a:solidFill>
              </a:rPr>
              <a:t>• ESA Copernicus Open Access Hub: </a:t>
            </a:r>
            <a:r>
              <a:rPr sz="800">
                <a:solidFill>
                  <a:srgbClr val="4B5563"/>
                </a:solidFill>
              </a:rPr>
              <a:t>dataspace.copernicus.eu — Sentinel-2 Optical (10m) &amp; Sentinel-1 SAR GRD</a:t>
            </a:r>
          </a:p>
          <a:p>
            <a:r>
              <a:rPr b="1" sz="900">
                <a:solidFill>
                  <a:srgbClr val="1E3A8A"/>
                </a:solidFill>
              </a:rPr>
              <a:t>• USGS / NASA EarthExplorer: </a:t>
            </a:r>
            <a:r>
              <a:rPr sz="800">
                <a:solidFill>
                  <a:srgbClr val="4B5563"/>
                </a:solidFill>
              </a:rPr>
              <a:t>earthexplorer.usgs.gov — Landsat 8/9 Operational Land Imager (OLI)</a:t>
            </a:r>
          </a:p>
          <a:p>
            <a:r>
              <a:rPr b="1" sz="900">
                <a:solidFill>
                  <a:srgbClr val="1E3A8A"/>
                </a:solidFill>
              </a:rPr>
              <a:t>• Planet Open Data &amp; OpenAerialMap: </a:t>
            </a:r>
            <a:r>
              <a:rPr sz="800">
                <a:solidFill>
                  <a:srgbClr val="4B5563"/>
                </a:solidFill>
              </a:rPr>
              <a:t>openaerialmap.org — Sub-meter drone &amp; commercial optical aerial rasters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